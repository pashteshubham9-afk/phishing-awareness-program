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69" d="100"/>
          <a:sy n="69" d="100"/>
        </p:scale>
        <p:origin x="54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050850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 this Phishing Awareness Program. In this session, we will learn what phishing is, how attackers trick people, and simple steps we can all take to stay safe online. This presentation is made for CodSoft Cyber Security Internship, Task 2.</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is a type of cyberattack where criminals pretend to be someone trustworthy, like a bank or a well-known company, to trick people into giving away private information. The name comes from "fishing" - attackers throw out bait and wait for a victim to bite. It mainly targets human trust, not computer systems.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Phishing comes in many forms. Email phishing uses fake emails from trusted brands. Spear phishing targets one specific person with personalized details. Smishing uses text messages, and vishing uses phone calls. Whaling targets senior executives or important people in a company. Knowing these types helps us recognize an attack no matter how it arrives.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are common warning signs in phishing emails. Look out for urgent or threatening language, spelling mistakes, and sender addresses that look slightly wrong. Unexpected attachments or links, and generic greetings instead of your real name, are also red flags. A simple habit of pausing before clicking can prevent most attacks.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Fake login pages are designed to look almost identical to real websites such as banks or email providers. They usually ask you to verify your account urgently. The web address may look close to the real one but is slightly different. Always check the domain name and padlock symbol, and type the website address yourself rather than clicking a link in an email.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Social engineering means manipulating people rather than computers. Attackers create urgency or fear, pretend to be IT support or bank officials, and sometimes offer fake rewards. They often build trust before asking for sensitive information, and may use a position of authority to pressure the victim into acting quickly without thinking.</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simple real-life style example. A user receives a fake bank alert email asking them to confirm their account. They click the link, which leads to a cloned login page that looks real. The user enters their username and password, and the attacker now has full access to their real bank account. The lesson is to always verify such requests independently, for example by calling the bank directly, before entering any login details.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Prevention is simple once you build the right habits. Never click suspicious links or attachments. Always check the sender address carefully. Turn on Two-Factor Authentication wherever possible, keep your software and antivirus updated, and report suspicious emails to IT support or your email provider so others can be warned too.</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do a quick 3-question quiz to check our understanding. Question 1 answer: B, steal personal information. Question 2 answer: B, an urgent request with spelling mistakes. Question 3 answer: B, check the website URL and padlock icon before entering login details. Encourage participants to answer before revealing the correct options.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for attending this Phishing Awareness Program. Remember to always stay alert, think before you click on any link, and verify requests before sharing personal information. Staying informed is our best defense against phishing attacks.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5408676" y="1005840"/>
            <a:ext cx="1371600" cy="1371600"/>
          </a:xfrm>
          <a:prstGeom prst="ellipse">
            <a:avLst/>
          </a:prstGeom>
          <a:solidFill>
            <a:srgbClr val="2E75B6"/>
          </a:solidFill>
          <a:ln/>
        </p:spPr>
      </p:sp>
      <p:pic>
        <p:nvPicPr>
          <p:cNvPr id="3" name="Image 0" descr="preencoded.png"/>
          <p:cNvPicPr>
            <a:picLocks noChangeAspect="1"/>
          </p:cNvPicPr>
          <p:nvPr/>
        </p:nvPicPr>
        <p:blipFill>
          <a:blip r:embed="rId3"/>
          <a:stretch>
            <a:fillRect/>
          </a:stretch>
        </p:blipFill>
        <p:spPr>
          <a:xfrm>
            <a:off x="5717286" y="1314450"/>
            <a:ext cx="754380" cy="754380"/>
          </a:xfrm>
          <a:prstGeom prst="rect">
            <a:avLst/>
          </a:prstGeom>
        </p:spPr>
      </p:pic>
      <p:sp>
        <p:nvSpPr>
          <p:cNvPr id="4" name="Text 1"/>
          <p:cNvSpPr/>
          <p:nvPr/>
        </p:nvSpPr>
        <p:spPr>
          <a:xfrm>
            <a:off x="914400" y="2743200"/>
            <a:ext cx="10360152" cy="100584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Phishing Awareness Program</a:t>
            </a:r>
            <a:endParaRPr lang="en-US" sz="4000" dirty="0"/>
          </a:p>
        </p:txBody>
      </p:sp>
      <p:sp>
        <p:nvSpPr>
          <p:cNvPr id="5" name="Text 2"/>
          <p:cNvSpPr/>
          <p:nvPr/>
        </p:nvSpPr>
        <p:spPr>
          <a:xfrm>
            <a:off x="914400" y="3703320"/>
            <a:ext cx="10360152" cy="548640"/>
          </a:xfrm>
          <a:prstGeom prst="rect">
            <a:avLst/>
          </a:prstGeom>
          <a:noFill/>
          <a:ln/>
        </p:spPr>
        <p:txBody>
          <a:bodyPr wrap="square" lIns="0" tIns="0" rIns="0" bIns="0" rtlCol="0" anchor="ctr"/>
          <a:lstStyle/>
          <a:p>
            <a:pPr marL="0" indent="0" algn="ctr">
              <a:buNone/>
            </a:pPr>
            <a:r>
              <a:rPr lang="en-US" sz="1800" dirty="0">
                <a:solidFill>
                  <a:srgbClr val="EAF2FB"/>
                </a:solidFill>
                <a:latin typeface="Calibri" pitchFamily="34" charset="0"/>
                <a:ea typeface="Calibri" pitchFamily="34" charset="-122"/>
                <a:cs typeface="Calibri" pitchFamily="34" charset="-120"/>
              </a:rPr>
              <a:t>Learn to Recognize, Avoid, and Report Phishing Attacks</a:t>
            </a:r>
            <a:endParaRPr lang="en-US" sz="1800" dirty="0"/>
          </a:p>
        </p:txBody>
      </p:sp>
      <p:sp>
        <p:nvSpPr>
          <p:cNvPr id="6" name="Text 3"/>
          <p:cNvSpPr/>
          <p:nvPr/>
        </p:nvSpPr>
        <p:spPr>
          <a:xfrm>
            <a:off x="914400" y="5504874"/>
            <a:ext cx="10360152" cy="713046"/>
          </a:xfrm>
          <a:prstGeom prst="rect">
            <a:avLst/>
          </a:prstGeom>
          <a:noFill/>
          <a:ln/>
        </p:spPr>
        <p:txBody>
          <a:bodyPr wrap="square" lIns="0" tIns="0" rIns="0" bIns="0" rtlCol="0" anchor="ctr"/>
          <a:lstStyle/>
          <a:p>
            <a:pPr marL="0" indent="0" algn="ctr">
              <a:buNone/>
            </a:pPr>
            <a:r>
              <a:rPr lang="en-US" sz="1600" dirty="0" smtClean="0">
                <a:solidFill>
                  <a:srgbClr val="EAF2FB"/>
                </a:solidFill>
                <a:latin typeface="Calibri" pitchFamily="34" charset="0"/>
                <a:ea typeface="Calibri" pitchFamily="34" charset="-122"/>
                <a:cs typeface="Calibri" pitchFamily="34" charset="-120"/>
              </a:rPr>
              <a:t>Prepared by :Shubham Pashte </a:t>
            </a:r>
            <a:endParaRPr lang="en-US" sz="1600" dirty="0" smtClean="0">
              <a:solidFill>
                <a:srgbClr val="EAF2FB"/>
              </a:solidFill>
              <a:latin typeface="Calibri" pitchFamily="34" charset="0"/>
              <a:ea typeface="Calibri" pitchFamily="34" charset="-122"/>
              <a:cs typeface="Calibri" pitchFamily="34" charset="-120"/>
            </a:endParaRPr>
          </a:p>
          <a:p>
            <a:pPr marL="0" indent="0" algn="ctr">
              <a:buNone/>
            </a:pPr>
            <a:r>
              <a:rPr lang="en-US" sz="1600" dirty="0" err="1" smtClean="0">
                <a:solidFill>
                  <a:srgbClr val="EAF2FB"/>
                </a:solidFill>
                <a:latin typeface="Calibri" pitchFamily="34" charset="0"/>
                <a:ea typeface="Calibri" pitchFamily="34" charset="-122"/>
                <a:cs typeface="Calibri" pitchFamily="34" charset="-120"/>
              </a:rPr>
              <a:t>CodSoft</a:t>
            </a:r>
            <a:r>
              <a:rPr lang="en-US" sz="1600" dirty="0" smtClean="0">
                <a:solidFill>
                  <a:srgbClr val="EAF2FB"/>
                </a:solidFill>
                <a:latin typeface="Calibri" pitchFamily="34" charset="0"/>
                <a:ea typeface="Calibri" pitchFamily="34" charset="-122"/>
                <a:cs typeface="Calibri" pitchFamily="34" charset="-120"/>
              </a:rPr>
              <a:t> </a:t>
            </a:r>
            <a:r>
              <a:rPr lang="en-US" sz="1600" dirty="0">
                <a:solidFill>
                  <a:srgbClr val="EAF2FB"/>
                </a:solidFill>
                <a:latin typeface="Calibri" pitchFamily="34" charset="0"/>
                <a:ea typeface="Calibri" pitchFamily="34" charset="-122"/>
                <a:cs typeface="Calibri" pitchFamily="34" charset="-120"/>
              </a:rPr>
              <a:t>Cyber Security Internship  |  Task </a:t>
            </a:r>
            <a:r>
              <a:rPr lang="en-US" sz="1600" dirty="0" smtClean="0">
                <a:solidFill>
                  <a:srgbClr val="EAF2FB"/>
                </a:solidFill>
                <a:latin typeface="Calibri" pitchFamily="34" charset="0"/>
                <a:ea typeface="Calibri" pitchFamily="34" charset="-122"/>
                <a:cs typeface="Calibri" pitchFamily="34" charset="-120"/>
              </a:rPr>
              <a:t>2</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ellipse">
            <a:avLst/>
          </a:prstGeom>
          <a:solidFill>
            <a:srgbClr val="1B3A6B"/>
          </a:solidFill>
          <a:ln/>
        </p:spPr>
      </p:sp>
      <p:pic>
        <p:nvPicPr>
          <p:cNvPr id="3" name="Image 0" descr="preencoded.png"/>
          <p:cNvPicPr>
            <a:picLocks noChangeAspect="1"/>
          </p:cNvPicPr>
          <p:nvPr/>
        </p:nvPicPr>
        <p:blipFill>
          <a:blip r:embed="rId3"/>
          <a:stretch>
            <a:fillRect/>
          </a:stretch>
        </p:blipFill>
        <p:spPr>
          <a:xfrm>
            <a:off x="733806" y="688086"/>
            <a:ext cx="452628" cy="452628"/>
          </a:xfrm>
          <a:prstGeom prst="rect">
            <a:avLst/>
          </a:prstGeom>
        </p:spPr>
      </p:pic>
      <p:sp>
        <p:nvSpPr>
          <p:cNvPr id="4" name="Text 1"/>
          <p:cNvSpPr/>
          <p:nvPr/>
        </p:nvSpPr>
        <p:spPr>
          <a:xfrm>
            <a:off x="1554480" y="457200"/>
            <a:ext cx="10085832" cy="822960"/>
          </a:xfrm>
          <a:prstGeom prst="rect">
            <a:avLst/>
          </a:prstGeom>
          <a:noFill/>
          <a:ln/>
        </p:spPr>
        <p:txBody>
          <a:bodyPr wrap="square" lIns="0" tIns="0" rIns="0" bIns="0" rtlCol="0" anchor="ctr"/>
          <a:lstStyle/>
          <a:p>
            <a:pPr marL="0" indent="0">
              <a:buNone/>
            </a:pPr>
            <a:r>
              <a:rPr lang="en-US" sz="3000" b="1" dirty="0">
                <a:solidFill>
                  <a:srgbClr val="1B3A6B"/>
                </a:solidFill>
                <a:latin typeface="Cambria" pitchFamily="34" charset="0"/>
                <a:ea typeface="Cambria" pitchFamily="34" charset="-122"/>
                <a:cs typeface="Cambria" pitchFamily="34" charset="-120"/>
              </a:rPr>
              <a:t>What is Phishing?</a:t>
            </a:r>
            <a:endParaRPr lang="en-US" sz="3000" dirty="0"/>
          </a:p>
        </p:txBody>
      </p:sp>
      <p:sp>
        <p:nvSpPr>
          <p:cNvPr id="5" name="Shape 2"/>
          <p:cNvSpPr/>
          <p:nvPr/>
        </p:nvSpPr>
        <p:spPr>
          <a:xfrm>
            <a:off x="548640" y="1554480"/>
            <a:ext cx="6949440" cy="4480560"/>
          </a:xfrm>
          <a:prstGeom prst="roundRect">
            <a:avLst>
              <a:gd name="adj" fmla="val 2449"/>
            </a:avLst>
          </a:prstGeom>
          <a:solidFill>
            <a:srgbClr val="EAF2FB"/>
          </a:solidFill>
          <a:ln/>
        </p:spPr>
      </p:sp>
      <p:sp>
        <p:nvSpPr>
          <p:cNvPr id="6" name="Text 3"/>
          <p:cNvSpPr/>
          <p:nvPr/>
        </p:nvSpPr>
        <p:spPr>
          <a:xfrm>
            <a:off x="868680" y="1783080"/>
            <a:ext cx="6309360" cy="402336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A trick used by cybercriminals to steal personal information</a:t>
            </a:r>
            <a:endParaRPr lang="en-US" sz="1600" dirty="0"/>
          </a:p>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The attacker pretends to be a trusted person or company</a:t>
            </a:r>
            <a:endParaRPr lang="en-US" sz="1600" dirty="0"/>
          </a:p>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Usually done through fake emails, messages, or websites</a:t>
            </a:r>
            <a:endParaRPr lang="en-US" sz="1600" dirty="0"/>
          </a:p>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Main goal: steal passwords, card details, or install harmful software</a:t>
            </a:r>
            <a:endParaRPr lang="en-US" sz="1600" dirty="0"/>
          </a:p>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It relies on tricking people, not breaking technology</a:t>
            </a:r>
            <a:endParaRPr lang="en-US" sz="1600" dirty="0"/>
          </a:p>
        </p:txBody>
      </p:sp>
      <p:sp>
        <p:nvSpPr>
          <p:cNvPr id="7" name="Shape 4"/>
          <p:cNvSpPr/>
          <p:nvPr/>
        </p:nvSpPr>
        <p:spPr>
          <a:xfrm>
            <a:off x="7772400" y="1554480"/>
            <a:ext cx="3867912" cy="4480560"/>
          </a:xfrm>
          <a:prstGeom prst="roundRect">
            <a:avLst>
              <a:gd name="adj" fmla="val 2837"/>
            </a:avLst>
          </a:prstGeom>
          <a:solidFill>
            <a:srgbClr val="1B3A6B"/>
          </a:solidFill>
          <a:ln/>
        </p:spPr>
      </p:sp>
      <p:sp>
        <p:nvSpPr>
          <p:cNvPr id="8" name="Shape 5"/>
          <p:cNvSpPr/>
          <p:nvPr/>
        </p:nvSpPr>
        <p:spPr>
          <a:xfrm>
            <a:off x="9157716" y="1920240"/>
            <a:ext cx="1097280" cy="1097280"/>
          </a:xfrm>
          <a:prstGeom prst="ellipse">
            <a:avLst/>
          </a:prstGeom>
          <a:solidFill>
            <a:srgbClr val="2E75B6"/>
          </a:solidFill>
          <a:ln/>
        </p:spPr>
      </p:sp>
      <p:pic>
        <p:nvPicPr>
          <p:cNvPr id="9" name="Image 1" descr="preencoded.png"/>
          <p:cNvPicPr>
            <a:picLocks noChangeAspect="1"/>
          </p:cNvPicPr>
          <p:nvPr/>
        </p:nvPicPr>
        <p:blipFill>
          <a:blip r:embed="rId4"/>
          <a:stretch>
            <a:fillRect/>
          </a:stretch>
        </p:blipFill>
        <p:spPr>
          <a:xfrm>
            <a:off x="9404604" y="2167128"/>
            <a:ext cx="603504" cy="603504"/>
          </a:xfrm>
          <a:prstGeom prst="rect">
            <a:avLst/>
          </a:prstGeom>
        </p:spPr>
      </p:pic>
      <p:sp>
        <p:nvSpPr>
          <p:cNvPr id="10" name="Text 6"/>
          <p:cNvSpPr/>
          <p:nvPr/>
        </p:nvSpPr>
        <p:spPr>
          <a:xfrm>
            <a:off x="7955280" y="3200400"/>
            <a:ext cx="3502152" cy="1280160"/>
          </a:xfrm>
          <a:prstGeom prst="rect">
            <a:avLst/>
          </a:prstGeom>
          <a:noFill/>
          <a:ln/>
        </p:spPr>
        <p:txBody>
          <a:bodyPr wrap="square" lIns="0" tIns="0" rIns="0" bIns="0" rtlCol="0" anchor="t"/>
          <a:lstStyle/>
          <a:p>
            <a:pPr marL="0" indent="0" algn="ctr">
              <a:buNone/>
            </a:pPr>
            <a:r>
              <a:rPr lang="en-US" sz="1500" i="1" dirty="0">
                <a:solidFill>
                  <a:srgbClr val="FFFFFF"/>
                </a:solidFill>
                <a:latin typeface="Calibri" pitchFamily="34" charset="0"/>
                <a:ea typeface="Calibri" pitchFamily="34" charset="-122"/>
                <a:cs typeface="Calibri" pitchFamily="34" charset="-120"/>
              </a:rPr>
              <a:t>Phishing = "Fishing" for Information</a:t>
            </a:r>
            <a:endParaRPr lang="en-US" sz="1500" dirty="0"/>
          </a:p>
        </p:txBody>
      </p:sp>
      <p:sp>
        <p:nvSpPr>
          <p:cNvPr id="11" name="Text 7"/>
          <p:cNvSpPr/>
          <p:nvPr/>
        </p:nvSpPr>
        <p:spPr>
          <a:xfrm>
            <a:off x="7955280" y="4297680"/>
            <a:ext cx="3502152" cy="1554480"/>
          </a:xfrm>
          <a:prstGeom prst="rect">
            <a:avLst/>
          </a:prstGeom>
          <a:noFill/>
          <a:ln/>
        </p:spPr>
        <p:txBody>
          <a:bodyPr wrap="square" lIns="0" tIns="0" rIns="0" bIns="0" rtlCol="0" anchor="t"/>
          <a:lstStyle/>
          <a:p>
            <a:pPr marL="0" indent="0" algn="ctr">
              <a:buNone/>
            </a:pPr>
            <a:r>
              <a:rPr lang="en-US" sz="1200" dirty="0">
                <a:solidFill>
                  <a:srgbClr val="EAF2FB"/>
                </a:solidFill>
                <a:latin typeface="Calibri" pitchFamily="34" charset="0"/>
                <a:ea typeface="Calibri" pitchFamily="34" charset="-122"/>
                <a:cs typeface="Calibri" pitchFamily="34" charset="-120"/>
              </a:rPr>
              <a:t>Attackers cast a "bait" (a fake message) and wait for someone to "bite" (click or reply).</a:t>
            </a:r>
            <a:endParaRPr lang="en-US" sz="1200" dirty="0"/>
          </a:p>
        </p:txBody>
      </p:sp>
      <p:sp>
        <p:nvSpPr>
          <p:cNvPr id="12" name="Text 8"/>
          <p:cNvSpPr/>
          <p:nvPr/>
        </p:nvSpPr>
        <p:spPr>
          <a:xfrm>
            <a:off x="548640" y="6400800"/>
            <a:ext cx="11091672" cy="274320"/>
          </a:xfrm>
          <a:prstGeom prst="rect">
            <a:avLst/>
          </a:prstGeom>
          <a:noFill/>
          <a:ln/>
        </p:spPr>
        <p:txBody>
          <a:bodyPr wrap="square" lIns="0" tIns="0" rIns="0" bIns="0"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Phishing Awareness Program  |  Slide 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ellipse">
            <a:avLst/>
          </a:prstGeom>
          <a:solidFill>
            <a:srgbClr val="1B3A6B"/>
          </a:solidFill>
          <a:ln/>
        </p:spPr>
      </p:sp>
      <p:pic>
        <p:nvPicPr>
          <p:cNvPr id="3" name="Image 0" descr="preencoded.png"/>
          <p:cNvPicPr>
            <a:picLocks noChangeAspect="1"/>
          </p:cNvPicPr>
          <p:nvPr/>
        </p:nvPicPr>
        <p:blipFill>
          <a:blip r:embed="rId3"/>
          <a:stretch>
            <a:fillRect/>
          </a:stretch>
        </p:blipFill>
        <p:spPr>
          <a:xfrm>
            <a:off x="733806" y="688086"/>
            <a:ext cx="452628" cy="452628"/>
          </a:xfrm>
          <a:prstGeom prst="rect">
            <a:avLst/>
          </a:prstGeom>
        </p:spPr>
      </p:pic>
      <p:sp>
        <p:nvSpPr>
          <p:cNvPr id="4" name="Text 1"/>
          <p:cNvSpPr/>
          <p:nvPr/>
        </p:nvSpPr>
        <p:spPr>
          <a:xfrm>
            <a:off x="1554480" y="457200"/>
            <a:ext cx="10085832" cy="822960"/>
          </a:xfrm>
          <a:prstGeom prst="rect">
            <a:avLst/>
          </a:prstGeom>
          <a:noFill/>
          <a:ln/>
        </p:spPr>
        <p:txBody>
          <a:bodyPr wrap="square" lIns="0" tIns="0" rIns="0" bIns="0" rtlCol="0" anchor="ctr"/>
          <a:lstStyle/>
          <a:p>
            <a:pPr marL="0" indent="0">
              <a:buNone/>
            </a:pPr>
            <a:r>
              <a:rPr lang="en-US" sz="3000" b="1" dirty="0">
                <a:solidFill>
                  <a:srgbClr val="1B3A6B"/>
                </a:solidFill>
                <a:latin typeface="Cambria" pitchFamily="34" charset="0"/>
                <a:ea typeface="Cambria" pitchFamily="34" charset="-122"/>
                <a:cs typeface="Cambria" pitchFamily="34" charset="-120"/>
              </a:rPr>
              <a:t>Types of Phishing</a:t>
            </a:r>
            <a:endParaRPr lang="en-US" sz="3000" dirty="0"/>
          </a:p>
        </p:txBody>
      </p:sp>
      <p:sp>
        <p:nvSpPr>
          <p:cNvPr id="5" name="Shape 2"/>
          <p:cNvSpPr/>
          <p:nvPr/>
        </p:nvSpPr>
        <p:spPr>
          <a:xfrm>
            <a:off x="265176" y="2103120"/>
            <a:ext cx="2148840" cy="3566160"/>
          </a:xfrm>
          <a:prstGeom prst="roundRect">
            <a:avLst>
              <a:gd name="adj" fmla="val 5106"/>
            </a:avLst>
          </a:prstGeom>
          <a:solidFill>
            <a:srgbClr val="EAF2FB"/>
          </a:solidFill>
          <a:ln/>
        </p:spPr>
      </p:sp>
      <p:sp>
        <p:nvSpPr>
          <p:cNvPr id="6" name="Shape 3"/>
          <p:cNvSpPr/>
          <p:nvPr/>
        </p:nvSpPr>
        <p:spPr>
          <a:xfrm>
            <a:off x="1019556" y="2423160"/>
            <a:ext cx="640080" cy="640080"/>
          </a:xfrm>
          <a:prstGeom prst="ellipse">
            <a:avLst/>
          </a:prstGeom>
          <a:solidFill>
            <a:srgbClr val="2E75B6"/>
          </a:solidFill>
          <a:ln/>
        </p:spPr>
      </p:sp>
      <p:sp>
        <p:nvSpPr>
          <p:cNvPr id="7" name="Text 4"/>
          <p:cNvSpPr/>
          <p:nvPr/>
        </p:nvSpPr>
        <p:spPr>
          <a:xfrm>
            <a:off x="1019556" y="24231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8" name="Text 5"/>
          <p:cNvSpPr/>
          <p:nvPr/>
        </p:nvSpPr>
        <p:spPr>
          <a:xfrm>
            <a:off x="402336" y="3246120"/>
            <a:ext cx="1874520" cy="548640"/>
          </a:xfrm>
          <a:prstGeom prst="rect">
            <a:avLst/>
          </a:prstGeom>
          <a:noFill/>
          <a:ln/>
        </p:spPr>
        <p:txBody>
          <a:bodyPr wrap="square" lIns="0" tIns="0" rIns="0" bIns="0" rtlCol="0" anchor="t"/>
          <a:lstStyle/>
          <a:p>
            <a:pPr marL="0" indent="0" algn="ctr">
              <a:buNone/>
            </a:pPr>
            <a:r>
              <a:rPr lang="en-US" sz="1400" b="1" dirty="0">
                <a:solidFill>
                  <a:srgbClr val="1B3A6B"/>
                </a:solidFill>
                <a:latin typeface="Calibri" pitchFamily="34" charset="0"/>
                <a:ea typeface="Calibri" pitchFamily="34" charset="-122"/>
                <a:cs typeface="Calibri" pitchFamily="34" charset="-120"/>
              </a:rPr>
              <a:t>Email Phishing</a:t>
            </a:r>
            <a:endParaRPr lang="en-US" sz="1400" dirty="0"/>
          </a:p>
        </p:txBody>
      </p:sp>
      <p:sp>
        <p:nvSpPr>
          <p:cNvPr id="9" name="Text 6"/>
          <p:cNvSpPr/>
          <p:nvPr/>
        </p:nvSpPr>
        <p:spPr>
          <a:xfrm>
            <a:off x="402336" y="3840480"/>
            <a:ext cx="1874520" cy="1645920"/>
          </a:xfrm>
          <a:prstGeom prst="rect">
            <a:avLst/>
          </a:prstGeom>
          <a:noFill/>
          <a:ln/>
        </p:spPr>
        <p:txBody>
          <a:bodyPr wrap="square" lIns="0" tIns="0" rIns="0" bIns="0" rtlCol="0" anchor="t"/>
          <a:lstStyle/>
          <a:p>
            <a:pPr marL="0" indent="0" algn="ctr">
              <a:buNone/>
            </a:pPr>
            <a:r>
              <a:rPr lang="en-US" sz="1100" dirty="0">
                <a:solidFill>
                  <a:srgbClr val="1F2D3D"/>
                </a:solidFill>
                <a:latin typeface="Calibri" pitchFamily="34" charset="0"/>
                <a:ea typeface="Calibri" pitchFamily="34" charset="-122"/>
                <a:cs typeface="Calibri" pitchFamily="34" charset="-120"/>
              </a:rPr>
              <a:t>Fake emails pretending to be from trusted brands</a:t>
            </a:r>
            <a:endParaRPr lang="en-US" sz="1100" dirty="0"/>
          </a:p>
        </p:txBody>
      </p:sp>
      <p:sp>
        <p:nvSpPr>
          <p:cNvPr id="10" name="Shape 7"/>
          <p:cNvSpPr/>
          <p:nvPr/>
        </p:nvSpPr>
        <p:spPr>
          <a:xfrm>
            <a:off x="2642616" y="2103120"/>
            <a:ext cx="2148840" cy="3566160"/>
          </a:xfrm>
          <a:prstGeom prst="roundRect">
            <a:avLst>
              <a:gd name="adj" fmla="val 5106"/>
            </a:avLst>
          </a:prstGeom>
          <a:solidFill>
            <a:srgbClr val="EAF2FB"/>
          </a:solidFill>
          <a:ln/>
        </p:spPr>
      </p:sp>
      <p:sp>
        <p:nvSpPr>
          <p:cNvPr id="11" name="Shape 8"/>
          <p:cNvSpPr/>
          <p:nvPr/>
        </p:nvSpPr>
        <p:spPr>
          <a:xfrm>
            <a:off x="3396996" y="2423160"/>
            <a:ext cx="640080" cy="640080"/>
          </a:xfrm>
          <a:prstGeom prst="ellipse">
            <a:avLst/>
          </a:prstGeom>
          <a:solidFill>
            <a:srgbClr val="2E75B6"/>
          </a:solidFill>
          <a:ln/>
        </p:spPr>
      </p:sp>
      <p:sp>
        <p:nvSpPr>
          <p:cNvPr id="12" name="Text 9"/>
          <p:cNvSpPr/>
          <p:nvPr/>
        </p:nvSpPr>
        <p:spPr>
          <a:xfrm>
            <a:off x="3396996" y="24231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3" name="Text 10"/>
          <p:cNvSpPr/>
          <p:nvPr/>
        </p:nvSpPr>
        <p:spPr>
          <a:xfrm>
            <a:off x="2779776" y="3246120"/>
            <a:ext cx="1874520" cy="548640"/>
          </a:xfrm>
          <a:prstGeom prst="rect">
            <a:avLst/>
          </a:prstGeom>
          <a:noFill/>
          <a:ln/>
        </p:spPr>
        <p:txBody>
          <a:bodyPr wrap="square" lIns="0" tIns="0" rIns="0" bIns="0" rtlCol="0" anchor="t"/>
          <a:lstStyle/>
          <a:p>
            <a:pPr marL="0" indent="0" algn="ctr">
              <a:buNone/>
            </a:pPr>
            <a:r>
              <a:rPr lang="en-US" sz="1400" b="1" dirty="0">
                <a:solidFill>
                  <a:srgbClr val="1B3A6B"/>
                </a:solidFill>
                <a:latin typeface="Calibri" pitchFamily="34" charset="0"/>
                <a:ea typeface="Calibri" pitchFamily="34" charset="-122"/>
                <a:cs typeface="Calibri" pitchFamily="34" charset="-120"/>
              </a:rPr>
              <a:t>Spear Phishing</a:t>
            </a:r>
            <a:endParaRPr lang="en-US" sz="1400" dirty="0"/>
          </a:p>
        </p:txBody>
      </p:sp>
      <p:sp>
        <p:nvSpPr>
          <p:cNvPr id="14" name="Text 11"/>
          <p:cNvSpPr/>
          <p:nvPr/>
        </p:nvSpPr>
        <p:spPr>
          <a:xfrm>
            <a:off x="2779776" y="3840480"/>
            <a:ext cx="1874520" cy="1645920"/>
          </a:xfrm>
          <a:prstGeom prst="rect">
            <a:avLst/>
          </a:prstGeom>
          <a:noFill/>
          <a:ln/>
        </p:spPr>
        <p:txBody>
          <a:bodyPr wrap="square" lIns="0" tIns="0" rIns="0" bIns="0" rtlCol="0" anchor="t"/>
          <a:lstStyle/>
          <a:p>
            <a:pPr marL="0" indent="0" algn="ctr">
              <a:buNone/>
            </a:pPr>
            <a:r>
              <a:rPr lang="en-US" sz="1100" dirty="0">
                <a:solidFill>
                  <a:srgbClr val="1F2D3D"/>
                </a:solidFill>
                <a:latin typeface="Calibri" pitchFamily="34" charset="0"/>
                <a:ea typeface="Calibri" pitchFamily="34" charset="-122"/>
                <a:cs typeface="Calibri" pitchFamily="34" charset="-120"/>
              </a:rPr>
              <a:t>A targeted attack aimed at one specific person</a:t>
            </a:r>
            <a:endParaRPr lang="en-US" sz="1100" dirty="0"/>
          </a:p>
        </p:txBody>
      </p:sp>
      <p:sp>
        <p:nvSpPr>
          <p:cNvPr id="15" name="Shape 12"/>
          <p:cNvSpPr/>
          <p:nvPr/>
        </p:nvSpPr>
        <p:spPr>
          <a:xfrm>
            <a:off x="5020056" y="2103120"/>
            <a:ext cx="2148840" cy="3566160"/>
          </a:xfrm>
          <a:prstGeom prst="roundRect">
            <a:avLst>
              <a:gd name="adj" fmla="val 5106"/>
            </a:avLst>
          </a:prstGeom>
          <a:solidFill>
            <a:srgbClr val="EAF2FB"/>
          </a:solidFill>
          <a:ln/>
        </p:spPr>
      </p:sp>
      <p:sp>
        <p:nvSpPr>
          <p:cNvPr id="16" name="Shape 13"/>
          <p:cNvSpPr/>
          <p:nvPr/>
        </p:nvSpPr>
        <p:spPr>
          <a:xfrm>
            <a:off x="5774436" y="2423160"/>
            <a:ext cx="640080" cy="640080"/>
          </a:xfrm>
          <a:prstGeom prst="ellipse">
            <a:avLst/>
          </a:prstGeom>
          <a:solidFill>
            <a:srgbClr val="2E75B6"/>
          </a:solidFill>
          <a:ln/>
        </p:spPr>
      </p:sp>
      <p:sp>
        <p:nvSpPr>
          <p:cNvPr id="17" name="Text 14"/>
          <p:cNvSpPr/>
          <p:nvPr/>
        </p:nvSpPr>
        <p:spPr>
          <a:xfrm>
            <a:off x="5774436" y="24231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8" name="Text 15"/>
          <p:cNvSpPr/>
          <p:nvPr/>
        </p:nvSpPr>
        <p:spPr>
          <a:xfrm>
            <a:off x="5157216" y="3246120"/>
            <a:ext cx="1874520" cy="548640"/>
          </a:xfrm>
          <a:prstGeom prst="rect">
            <a:avLst/>
          </a:prstGeom>
          <a:noFill/>
          <a:ln/>
        </p:spPr>
        <p:txBody>
          <a:bodyPr wrap="square" lIns="0" tIns="0" rIns="0" bIns="0" rtlCol="0" anchor="t"/>
          <a:lstStyle/>
          <a:p>
            <a:pPr marL="0" indent="0" algn="ctr">
              <a:buNone/>
            </a:pPr>
            <a:r>
              <a:rPr lang="en-US" sz="1400" b="1" dirty="0">
                <a:solidFill>
                  <a:srgbClr val="1B3A6B"/>
                </a:solidFill>
                <a:latin typeface="Calibri" pitchFamily="34" charset="0"/>
                <a:ea typeface="Calibri" pitchFamily="34" charset="-122"/>
                <a:cs typeface="Calibri" pitchFamily="34" charset="-120"/>
              </a:rPr>
              <a:t>Smishing</a:t>
            </a:r>
            <a:endParaRPr lang="en-US" sz="1400" dirty="0"/>
          </a:p>
        </p:txBody>
      </p:sp>
      <p:sp>
        <p:nvSpPr>
          <p:cNvPr id="19" name="Text 16"/>
          <p:cNvSpPr/>
          <p:nvPr/>
        </p:nvSpPr>
        <p:spPr>
          <a:xfrm>
            <a:off x="5157216" y="3840480"/>
            <a:ext cx="1874520" cy="1645920"/>
          </a:xfrm>
          <a:prstGeom prst="rect">
            <a:avLst/>
          </a:prstGeom>
          <a:noFill/>
          <a:ln/>
        </p:spPr>
        <p:txBody>
          <a:bodyPr wrap="square" lIns="0" tIns="0" rIns="0" bIns="0" rtlCol="0" anchor="t"/>
          <a:lstStyle/>
          <a:p>
            <a:pPr marL="0" indent="0" algn="ctr">
              <a:buNone/>
            </a:pPr>
            <a:r>
              <a:rPr lang="en-US" sz="1100" dirty="0">
                <a:solidFill>
                  <a:srgbClr val="1F2D3D"/>
                </a:solidFill>
                <a:latin typeface="Calibri" pitchFamily="34" charset="0"/>
                <a:ea typeface="Calibri" pitchFamily="34" charset="-122"/>
                <a:cs typeface="Calibri" pitchFamily="34" charset="-120"/>
              </a:rPr>
              <a:t>Phishing attempts sent through SMS text messages</a:t>
            </a:r>
            <a:endParaRPr lang="en-US" sz="1100" dirty="0"/>
          </a:p>
        </p:txBody>
      </p:sp>
      <p:sp>
        <p:nvSpPr>
          <p:cNvPr id="20" name="Shape 17"/>
          <p:cNvSpPr/>
          <p:nvPr/>
        </p:nvSpPr>
        <p:spPr>
          <a:xfrm>
            <a:off x="7397496" y="2103120"/>
            <a:ext cx="2148840" cy="3566160"/>
          </a:xfrm>
          <a:prstGeom prst="roundRect">
            <a:avLst>
              <a:gd name="adj" fmla="val 5106"/>
            </a:avLst>
          </a:prstGeom>
          <a:solidFill>
            <a:srgbClr val="EAF2FB"/>
          </a:solidFill>
          <a:ln/>
        </p:spPr>
      </p:sp>
      <p:sp>
        <p:nvSpPr>
          <p:cNvPr id="21" name="Shape 18"/>
          <p:cNvSpPr/>
          <p:nvPr/>
        </p:nvSpPr>
        <p:spPr>
          <a:xfrm>
            <a:off x="8151876" y="2423160"/>
            <a:ext cx="640080" cy="640080"/>
          </a:xfrm>
          <a:prstGeom prst="ellipse">
            <a:avLst/>
          </a:prstGeom>
          <a:solidFill>
            <a:srgbClr val="2E75B6"/>
          </a:solidFill>
          <a:ln/>
        </p:spPr>
      </p:sp>
      <p:sp>
        <p:nvSpPr>
          <p:cNvPr id="22" name="Text 19"/>
          <p:cNvSpPr/>
          <p:nvPr/>
        </p:nvSpPr>
        <p:spPr>
          <a:xfrm>
            <a:off x="8151876" y="24231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3" name="Text 20"/>
          <p:cNvSpPr/>
          <p:nvPr/>
        </p:nvSpPr>
        <p:spPr>
          <a:xfrm>
            <a:off x="7534656" y="3246120"/>
            <a:ext cx="1874520" cy="548640"/>
          </a:xfrm>
          <a:prstGeom prst="rect">
            <a:avLst/>
          </a:prstGeom>
          <a:noFill/>
          <a:ln/>
        </p:spPr>
        <p:txBody>
          <a:bodyPr wrap="square" lIns="0" tIns="0" rIns="0" bIns="0" rtlCol="0" anchor="t"/>
          <a:lstStyle/>
          <a:p>
            <a:pPr marL="0" indent="0" algn="ctr">
              <a:buNone/>
            </a:pPr>
            <a:r>
              <a:rPr lang="en-US" sz="1400" b="1" dirty="0">
                <a:solidFill>
                  <a:srgbClr val="1B3A6B"/>
                </a:solidFill>
                <a:latin typeface="Calibri" pitchFamily="34" charset="0"/>
                <a:ea typeface="Calibri" pitchFamily="34" charset="-122"/>
                <a:cs typeface="Calibri" pitchFamily="34" charset="-120"/>
              </a:rPr>
              <a:t>Vishing</a:t>
            </a:r>
            <a:endParaRPr lang="en-US" sz="1400" dirty="0"/>
          </a:p>
        </p:txBody>
      </p:sp>
      <p:sp>
        <p:nvSpPr>
          <p:cNvPr id="24" name="Text 21"/>
          <p:cNvSpPr/>
          <p:nvPr/>
        </p:nvSpPr>
        <p:spPr>
          <a:xfrm>
            <a:off x="7534656" y="3840480"/>
            <a:ext cx="1874520" cy="1645920"/>
          </a:xfrm>
          <a:prstGeom prst="rect">
            <a:avLst/>
          </a:prstGeom>
          <a:noFill/>
          <a:ln/>
        </p:spPr>
        <p:txBody>
          <a:bodyPr wrap="square" lIns="0" tIns="0" rIns="0" bIns="0" rtlCol="0" anchor="t"/>
          <a:lstStyle/>
          <a:p>
            <a:pPr marL="0" indent="0" algn="ctr">
              <a:buNone/>
            </a:pPr>
            <a:r>
              <a:rPr lang="en-US" sz="1100" dirty="0">
                <a:solidFill>
                  <a:srgbClr val="1F2D3D"/>
                </a:solidFill>
                <a:latin typeface="Calibri" pitchFamily="34" charset="0"/>
                <a:ea typeface="Calibri" pitchFamily="34" charset="-122"/>
                <a:cs typeface="Calibri" pitchFamily="34" charset="-120"/>
              </a:rPr>
              <a:t>Phishing carried out through phone calls</a:t>
            </a:r>
            <a:endParaRPr lang="en-US" sz="1100" dirty="0"/>
          </a:p>
        </p:txBody>
      </p:sp>
      <p:sp>
        <p:nvSpPr>
          <p:cNvPr id="25" name="Shape 22"/>
          <p:cNvSpPr/>
          <p:nvPr/>
        </p:nvSpPr>
        <p:spPr>
          <a:xfrm>
            <a:off x="9774936" y="2103120"/>
            <a:ext cx="2148840" cy="3566160"/>
          </a:xfrm>
          <a:prstGeom prst="roundRect">
            <a:avLst>
              <a:gd name="adj" fmla="val 5106"/>
            </a:avLst>
          </a:prstGeom>
          <a:solidFill>
            <a:srgbClr val="EAF2FB"/>
          </a:solidFill>
          <a:ln/>
        </p:spPr>
      </p:sp>
      <p:sp>
        <p:nvSpPr>
          <p:cNvPr id="26" name="Shape 23"/>
          <p:cNvSpPr/>
          <p:nvPr/>
        </p:nvSpPr>
        <p:spPr>
          <a:xfrm>
            <a:off x="10529316" y="2423160"/>
            <a:ext cx="640080" cy="640080"/>
          </a:xfrm>
          <a:prstGeom prst="ellipse">
            <a:avLst/>
          </a:prstGeom>
          <a:solidFill>
            <a:srgbClr val="2E75B6"/>
          </a:solidFill>
          <a:ln/>
        </p:spPr>
      </p:sp>
      <p:sp>
        <p:nvSpPr>
          <p:cNvPr id="27" name="Text 24"/>
          <p:cNvSpPr/>
          <p:nvPr/>
        </p:nvSpPr>
        <p:spPr>
          <a:xfrm>
            <a:off x="10529316" y="2423160"/>
            <a:ext cx="640080" cy="640080"/>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8" name="Text 25"/>
          <p:cNvSpPr/>
          <p:nvPr/>
        </p:nvSpPr>
        <p:spPr>
          <a:xfrm>
            <a:off x="9912096" y="3246120"/>
            <a:ext cx="1874520" cy="548640"/>
          </a:xfrm>
          <a:prstGeom prst="rect">
            <a:avLst/>
          </a:prstGeom>
          <a:noFill/>
          <a:ln/>
        </p:spPr>
        <p:txBody>
          <a:bodyPr wrap="square" lIns="0" tIns="0" rIns="0" bIns="0" rtlCol="0" anchor="t"/>
          <a:lstStyle/>
          <a:p>
            <a:pPr marL="0" indent="0" algn="ctr">
              <a:buNone/>
            </a:pPr>
            <a:r>
              <a:rPr lang="en-US" sz="1400" b="1" dirty="0">
                <a:solidFill>
                  <a:srgbClr val="1B3A6B"/>
                </a:solidFill>
                <a:latin typeface="Calibri" pitchFamily="34" charset="0"/>
                <a:ea typeface="Calibri" pitchFamily="34" charset="-122"/>
                <a:cs typeface="Calibri" pitchFamily="34" charset="-120"/>
              </a:rPr>
              <a:t>Whaling</a:t>
            </a:r>
            <a:endParaRPr lang="en-US" sz="1400" dirty="0"/>
          </a:p>
        </p:txBody>
      </p:sp>
      <p:sp>
        <p:nvSpPr>
          <p:cNvPr id="29" name="Text 26"/>
          <p:cNvSpPr/>
          <p:nvPr/>
        </p:nvSpPr>
        <p:spPr>
          <a:xfrm>
            <a:off x="9912096" y="3840480"/>
            <a:ext cx="1874520" cy="1645920"/>
          </a:xfrm>
          <a:prstGeom prst="rect">
            <a:avLst/>
          </a:prstGeom>
          <a:noFill/>
          <a:ln/>
        </p:spPr>
        <p:txBody>
          <a:bodyPr wrap="square" lIns="0" tIns="0" rIns="0" bIns="0" rtlCol="0" anchor="t"/>
          <a:lstStyle/>
          <a:p>
            <a:pPr marL="0" indent="0" algn="ctr">
              <a:buNone/>
            </a:pPr>
            <a:r>
              <a:rPr lang="en-US" sz="1100" dirty="0">
                <a:solidFill>
                  <a:srgbClr val="1F2D3D"/>
                </a:solidFill>
                <a:latin typeface="Calibri" pitchFamily="34" charset="0"/>
                <a:ea typeface="Calibri" pitchFamily="34" charset="-122"/>
                <a:cs typeface="Calibri" pitchFamily="34" charset="-120"/>
              </a:rPr>
              <a:t>Targets senior executives or high-profile people</a:t>
            </a:r>
            <a:endParaRPr lang="en-US" sz="1100" dirty="0"/>
          </a:p>
        </p:txBody>
      </p:sp>
      <p:sp>
        <p:nvSpPr>
          <p:cNvPr id="30" name="Text 27"/>
          <p:cNvSpPr/>
          <p:nvPr/>
        </p:nvSpPr>
        <p:spPr>
          <a:xfrm>
            <a:off x="548640" y="6400800"/>
            <a:ext cx="11091672" cy="274320"/>
          </a:xfrm>
          <a:prstGeom prst="rect">
            <a:avLst/>
          </a:prstGeom>
          <a:noFill/>
          <a:ln/>
        </p:spPr>
        <p:txBody>
          <a:bodyPr wrap="square" lIns="0" tIns="0" rIns="0" bIns="0"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Phishing Awareness Program  |  Slide 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ellipse">
            <a:avLst/>
          </a:prstGeom>
          <a:solidFill>
            <a:srgbClr val="1B3A6B"/>
          </a:solidFill>
          <a:ln/>
        </p:spPr>
      </p:sp>
      <p:pic>
        <p:nvPicPr>
          <p:cNvPr id="3" name="Image 0" descr="preencoded.png"/>
          <p:cNvPicPr>
            <a:picLocks noChangeAspect="1"/>
          </p:cNvPicPr>
          <p:nvPr/>
        </p:nvPicPr>
        <p:blipFill>
          <a:blip r:embed="rId3"/>
          <a:stretch>
            <a:fillRect/>
          </a:stretch>
        </p:blipFill>
        <p:spPr>
          <a:xfrm>
            <a:off x="733806" y="688086"/>
            <a:ext cx="452628" cy="452628"/>
          </a:xfrm>
          <a:prstGeom prst="rect">
            <a:avLst/>
          </a:prstGeom>
        </p:spPr>
      </p:pic>
      <p:sp>
        <p:nvSpPr>
          <p:cNvPr id="4" name="Text 1"/>
          <p:cNvSpPr/>
          <p:nvPr/>
        </p:nvSpPr>
        <p:spPr>
          <a:xfrm>
            <a:off x="1554480" y="457200"/>
            <a:ext cx="10085832" cy="822960"/>
          </a:xfrm>
          <a:prstGeom prst="rect">
            <a:avLst/>
          </a:prstGeom>
          <a:noFill/>
          <a:ln/>
        </p:spPr>
        <p:txBody>
          <a:bodyPr wrap="square" lIns="0" tIns="0" rIns="0" bIns="0" rtlCol="0" anchor="ctr"/>
          <a:lstStyle/>
          <a:p>
            <a:pPr marL="0" indent="0">
              <a:buNone/>
            </a:pPr>
            <a:r>
              <a:rPr lang="en-US" sz="3000" b="1" dirty="0">
                <a:solidFill>
                  <a:srgbClr val="1B3A6B"/>
                </a:solidFill>
                <a:latin typeface="Cambria" pitchFamily="34" charset="0"/>
                <a:ea typeface="Cambria" pitchFamily="34" charset="-122"/>
                <a:cs typeface="Cambria" pitchFamily="34" charset="-120"/>
              </a:rPr>
              <a:t>How to Identify Phishing Emails</a:t>
            </a:r>
            <a:endParaRPr lang="en-US" sz="3000" dirty="0"/>
          </a:p>
        </p:txBody>
      </p:sp>
      <p:sp>
        <p:nvSpPr>
          <p:cNvPr id="5" name="Shape 2"/>
          <p:cNvSpPr/>
          <p:nvPr/>
        </p:nvSpPr>
        <p:spPr>
          <a:xfrm>
            <a:off x="548640" y="1554480"/>
            <a:ext cx="6949440" cy="4480560"/>
          </a:xfrm>
          <a:prstGeom prst="roundRect">
            <a:avLst>
              <a:gd name="adj" fmla="val 2449"/>
            </a:avLst>
          </a:prstGeom>
          <a:solidFill>
            <a:srgbClr val="EAF2FB"/>
          </a:solidFill>
          <a:ln/>
        </p:spPr>
      </p:sp>
      <p:sp>
        <p:nvSpPr>
          <p:cNvPr id="6" name="Text 3"/>
          <p:cNvSpPr/>
          <p:nvPr/>
        </p:nvSpPr>
        <p:spPr>
          <a:xfrm>
            <a:off x="868680" y="1783080"/>
            <a:ext cx="6309360" cy="402336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Urgent or threatening language ("Act now or your account will be closed")</a:t>
            </a:r>
            <a:endParaRPr lang="en-US" sz="1600" dirty="0"/>
          </a:p>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Spelling and grammar mistakes in the message</a:t>
            </a:r>
            <a:endParaRPr lang="en-US" sz="1600" dirty="0"/>
          </a:p>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Suspicious or misspelled sender email address</a:t>
            </a:r>
            <a:endParaRPr lang="en-US" sz="1600" dirty="0"/>
          </a:p>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Unexpected attachments or links you were not expecting</a:t>
            </a:r>
            <a:endParaRPr lang="en-US" sz="1600" dirty="0"/>
          </a:p>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Generic greetings like "Dear Customer" instead of your name</a:t>
            </a:r>
            <a:endParaRPr lang="en-US" sz="1600" dirty="0"/>
          </a:p>
        </p:txBody>
      </p:sp>
      <p:sp>
        <p:nvSpPr>
          <p:cNvPr id="7" name="Shape 4"/>
          <p:cNvSpPr/>
          <p:nvPr/>
        </p:nvSpPr>
        <p:spPr>
          <a:xfrm>
            <a:off x="7772400" y="1554480"/>
            <a:ext cx="3867912" cy="4480560"/>
          </a:xfrm>
          <a:prstGeom prst="roundRect">
            <a:avLst>
              <a:gd name="adj" fmla="val 2837"/>
            </a:avLst>
          </a:prstGeom>
          <a:solidFill>
            <a:srgbClr val="1B3A6B"/>
          </a:solidFill>
          <a:ln/>
        </p:spPr>
      </p:sp>
      <p:sp>
        <p:nvSpPr>
          <p:cNvPr id="8" name="Shape 5"/>
          <p:cNvSpPr/>
          <p:nvPr/>
        </p:nvSpPr>
        <p:spPr>
          <a:xfrm>
            <a:off x="9157716" y="1920240"/>
            <a:ext cx="1097280" cy="1097280"/>
          </a:xfrm>
          <a:prstGeom prst="ellipse">
            <a:avLst/>
          </a:prstGeom>
          <a:solidFill>
            <a:srgbClr val="2E75B6"/>
          </a:solidFill>
          <a:ln/>
        </p:spPr>
      </p:sp>
      <p:pic>
        <p:nvPicPr>
          <p:cNvPr id="9" name="Image 1" descr="preencoded.png"/>
          <p:cNvPicPr>
            <a:picLocks noChangeAspect="1"/>
          </p:cNvPicPr>
          <p:nvPr/>
        </p:nvPicPr>
        <p:blipFill>
          <a:blip r:embed="rId4"/>
          <a:stretch>
            <a:fillRect/>
          </a:stretch>
        </p:blipFill>
        <p:spPr>
          <a:xfrm>
            <a:off x="9404604" y="2167128"/>
            <a:ext cx="603504" cy="603504"/>
          </a:xfrm>
          <a:prstGeom prst="rect">
            <a:avLst/>
          </a:prstGeom>
        </p:spPr>
      </p:pic>
      <p:sp>
        <p:nvSpPr>
          <p:cNvPr id="10" name="Text 6"/>
          <p:cNvSpPr/>
          <p:nvPr/>
        </p:nvSpPr>
        <p:spPr>
          <a:xfrm>
            <a:off x="7955280" y="3200400"/>
            <a:ext cx="3502152"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Quick Check</a:t>
            </a:r>
            <a:endParaRPr lang="en-US" sz="1800" dirty="0"/>
          </a:p>
        </p:txBody>
      </p:sp>
      <p:sp>
        <p:nvSpPr>
          <p:cNvPr id="11" name="Text 7"/>
          <p:cNvSpPr/>
          <p:nvPr/>
        </p:nvSpPr>
        <p:spPr>
          <a:xfrm>
            <a:off x="7955280" y="3749040"/>
            <a:ext cx="3502152" cy="2011680"/>
          </a:xfrm>
          <a:prstGeom prst="rect">
            <a:avLst/>
          </a:prstGeom>
          <a:noFill/>
          <a:ln/>
        </p:spPr>
        <p:txBody>
          <a:bodyPr wrap="square" lIns="0" tIns="0" rIns="0" bIns="0" rtlCol="0" anchor="t"/>
          <a:lstStyle/>
          <a:p>
            <a:pPr marL="0" indent="0" algn="ctr">
              <a:buNone/>
            </a:pPr>
            <a:r>
              <a:rPr lang="en-US" sz="1300" i="1" dirty="0">
                <a:solidFill>
                  <a:srgbClr val="EAF2FB"/>
                </a:solidFill>
                <a:latin typeface="Calibri" pitchFamily="34" charset="0"/>
                <a:ea typeface="Calibri" pitchFamily="34" charset="-122"/>
                <a:cs typeface="Calibri" pitchFamily="34" charset="-120"/>
              </a:rPr>
              <a:t>Before you click, pause and ask: "Was I expecting this message?"</a:t>
            </a:r>
            <a:endParaRPr lang="en-US" sz="1300" dirty="0"/>
          </a:p>
        </p:txBody>
      </p:sp>
      <p:sp>
        <p:nvSpPr>
          <p:cNvPr id="12" name="Text 8"/>
          <p:cNvSpPr/>
          <p:nvPr/>
        </p:nvSpPr>
        <p:spPr>
          <a:xfrm>
            <a:off x="548640" y="6400800"/>
            <a:ext cx="11091672" cy="274320"/>
          </a:xfrm>
          <a:prstGeom prst="rect">
            <a:avLst/>
          </a:prstGeom>
          <a:noFill/>
          <a:ln/>
        </p:spPr>
        <p:txBody>
          <a:bodyPr wrap="square" lIns="0" tIns="0" rIns="0" bIns="0"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Phishing Awareness Program  |  Slide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ellipse">
            <a:avLst/>
          </a:prstGeom>
          <a:solidFill>
            <a:srgbClr val="1B3A6B"/>
          </a:solidFill>
          <a:ln/>
        </p:spPr>
      </p:sp>
      <p:pic>
        <p:nvPicPr>
          <p:cNvPr id="3" name="Image 0" descr="preencoded.png"/>
          <p:cNvPicPr>
            <a:picLocks noChangeAspect="1"/>
          </p:cNvPicPr>
          <p:nvPr/>
        </p:nvPicPr>
        <p:blipFill>
          <a:blip r:embed="rId3"/>
          <a:stretch>
            <a:fillRect/>
          </a:stretch>
        </p:blipFill>
        <p:spPr>
          <a:xfrm>
            <a:off x="733806" y="688086"/>
            <a:ext cx="452628" cy="452628"/>
          </a:xfrm>
          <a:prstGeom prst="rect">
            <a:avLst/>
          </a:prstGeom>
        </p:spPr>
      </p:pic>
      <p:sp>
        <p:nvSpPr>
          <p:cNvPr id="4" name="Text 1"/>
          <p:cNvSpPr/>
          <p:nvPr/>
        </p:nvSpPr>
        <p:spPr>
          <a:xfrm>
            <a:off x="1554480" y="457200"/>
            <a:ext cx="10085832" cy="822960"/>
          </a:xfrm>
          <a:prstGeom prst="rect">
            <a:avLst/>
          </a:prstGeom>
          <a:noFill/>
          <a:ln/>
        </p:spPr>
        <p:txBody>
          <a:bodyPr wrap="square" lIns="0" tIns="0" rIns="0" bIns="0" rtlCol="0" anchor="ctr"/>
          <a:lstStyle/>
          <a:p>
            <a:pPr marL="0" indent="0">
              <a:buNone/>
            </a:pPr>
            <a:r>
              <a:rPr lang="en-US" sz="3000" b="1" dirty="0">
                <a:solidFill>
                  <a:srgbClr val="1B3A6B"/>
                </a:solidFill>
                <a:latin typeface="Cambria" pitchFamily="34" charset="0"/>
                <a:ea typeface="Cambria" pitchFamily="34" charset="-122"/>
                <a:cs typeface="Cambria" pitchFamily="34" charset="-120"/>
              </a:rPr>
              <a:t>Fake Login Pages</a:t>
            </a:r>
            <a:endParaRPr lang="en-US" sz="3000" dirty="0"/>
          </a:p>
        </p:txBody>
      </p:sp>
      <p:sp>
        <p:nvSpPr>
          <p:cNvPr id="5" name="Shape 2"/>
          <p:cNvSpPr/>
          <p:nvPr/>
        </p:nvSpPr>
        <p:spPr>
          <a:xfrm>
            <a:off x="548640" y="1554480"/>
            <a:ext cx="6949440" cy="4480560"/>
          </a:xfrm>
          <a:prstGeom prst="roundRect">
            <a:avLst>
              <a:gd name="adj" fmla="val 2449"/>
            </a:avLst>
          </a:prstGeom>
          <a:solidFill>
            <a:srgbClr val="EAF2FB"/>
          </a:solidFill>
          <a:ln/>
        </p:spPr>
      </p:sp>
      <p:sp>
        <p:nvSpPr>
          <p:cNvPr id="6" name="Text 3"/>
          <p:cNvSpPr/>
          <p:nvPr/>
        </p:nvSpPr>
        <p:spPr>
          <a:xfrm>
            <a:off x="868680" y="1783080"/>
            <a:ext cx="6309360" cy="402336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Copy the look and design of real websites (banks, email, social media)</a:t>
            </a:r>
            <a:endParaRPr lang="en-US" sz="1600" dirty="0"/>
          </a:p>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Ask you to "verify" or "confirm" your account urgently</a:t>
            </a:r>
            <a:endParaRPr lang="en-US" sz="1600" dirty="0"/>
          </a:p>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Web address looks similar but is not the real domain name</a:t>
            </a:r>
            <a:endParaRPr lang="en-US" sz="1600" dirty="0"/>
          </a:p>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May be missing the padlock icon or use "http" instead of "https"</a:t>
            </a:r>
            <a:endParaRPr lang="en-US" sz="1600" dirty="0"/>
          </a:p>
          <a:p>
            <a:pPr marL="228600" indent="-228600">
              <a:lnSpc>
                <a:spcPct val="115000"/>
              </a:lnSpc>
              <a:spcAft>
                <a:spcPts val="1200"/>
              </a:spcAft>
              <a:buSzPct val="100000"/>
              <a:buChar char="●"/>
            </a:pPr>
            <a:r>
              <a:rPr lang="en-US" sz="1600" dirty="0">
                <a:solidFill>
                  <a:srgbClr val="1F2D3D"/>
                </a:solidFill>
                <a:latin typeface="Calibri" pitchFamily="34" charset="0"/>
                <a:ea typeface="Calibri" pitchFamily="34" charset="-122"/>
                <a:cs typeface="Calibri" pitchFamily="34" charset="-120"/>
              </a:rPr>
              <a:t>Always type the website address yourself instead of clicking a link</a:t>
            </a:r>
            <a:endParaRPr lang="en-US" sz="1600" dirty="0"/>
          </a:p>
        </p:txBody>
      </p:sp>
      <p:sp>
        <p:nvSpPr>
          <p:cNvPr id="7" name="Shape 4"/>
          <p:cNvSpPr/>
          <p:nvPr/>
        </p:nvSpPr>
        <p:spPr>
          <a:xfrm>
            <a:off x="7772400" y="1554480"/>
            <a:ext cx="3867912" cy="4480560"/>
          </a:xfrm>
          <a:prstGeom prst="roundRect">
            <a:avLst>
              <a:gd name="adj" fmla="val 2837"/>
            </a:avLst>
          </a:prstGeom>
          <a:solidFill>
            <a:srgbClr val="1B3A6B"/>
          </a:solidFill>
          <a:ln/>
        </p:spPr>
      </p:sp>
      <p:sp>
        <p:nvSpPr>
          <p:cNvPr id="8" name="Shape 5"/>
          <p:cNvSpPr/>
          <p:nvPr/>
        </p:nvSpPr>
        <p:spPr>
          <a:xfrm>
            <a:off x="9157716" y="1920240"/>
            <a:ext cx="1097280" cy="1097280"/>
          </a:xfrm>
          <a:prstGeom prst="ellipse">
            <a:avLst/>
          </a:prstGeom>
          <a:solidFill>
            <a:srgbClr val="2E75B6"/>
          </a:solidFill>
          <a:ln/>
        </p:spPr>
      </p:sp>
      <p:pic>
        <p:nvPicPr>
          <p:cNvPr id="9" name="Image 1" descr="preencoded.png"/>
          <p:cNvPicPr>
            <a:picLocks noChangeAspect="1"/>
          </p:cNvPicPr>
          <p:nvPr/>
        </p:nvPicPr>
        <p:blipFill>
          <a:blip r:embed="rId3"/>
          <a:stretch>
            <a:fillRect/>
          </a:stretch>
        </p:blipFill>
        <p:spPr>
          <a:xfrm>
            <a:off x="9404604" y="2167128"/>
            <a:ext cx="603504" cy="603504"/>
          </a:xfrm>
          <a:prstGeom prst="rect">
            <a:avLst/>
          </a:prstGeom>
        </p:spPr>
      </p:pic>
      <p:sp>
        <p:nvSpPr>
          <p:cNvPr id="10" name="Text 6"/>
          <p:cNvSpPr/>
          <p:nvPr/>
        </p:nvSpPr>
        <p:spPr>
          <a:xfrm>
            <a:off x="7955280" y="3200400"/>
            <a:ext cx="3502152" cy="457200"/>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Safety Habit</a:t>
            </a:r>
            <a:endParaRPr lang="en-US" sz="1800" dirty="0"/>
          </a:p>
        </p:txBody>
      </p:sp>
      <p:sp>
        <p:nvSpPr>
          <p:cNvPr id="11" name="Text 7"/>
          <p:cNvSpPr/>
          <p:nvPr/>
        </p:nvSpPr>
        <p:spPr>
          <a:xfrm>
            <a:off x="7955280" y="3749040"/>
            <a:ext cx="3502152" cy="2011680"/>
          </a:xfrm>
          <a:prstGeom prst="rect">
            <a:avLst/>
          </a:prstGeom>
          <a:noFill/>
          <a:ln/>
        </p:spPr>
        <p:txBody>
          <a:bodyPr wrap="square" lIns="0" tIns="0" rIns="0" bIns="0" rtlCol="0" anchor="t"/>
          <a:lstStyle/>
          <a:p>
            <a:pPr marL="0" indent="0" algn="ctr">
              <a:buNone/>
            </a:pPr>
            <a:r>
              <a:rPr lang="en-US" sz="1300" i="1" dirty="0">
                <a:solidFill>
                  <a:srgbClr val="EAF2FB"/>
                </a:solidFill>
                <a:latin typeface="Calibri" pitchFamily="34" charset="0"/>
                <a:ea typeface="Calibri" pitchFamily="34" charset="-122"/>
                <a:cs typeface="Calibri" pitchFamily="34" charset="-120"/>
              </a:rPr>
              <a:t>Check the address bar for the correct domain name and a padlock icon before logging in.</a:t>
            </a:r>
            <a:endParaRPr lang="en-US" sz="1300" dirty="0"/>
          </a:p>
        </p:txBody>
      </p:sp>
      <p:sp>
        <p:nvSpPr>
          <p:cNvPr id="12" name="Text 8"/>
          <p:cNvSpPr/>
          <p:nvPr/>
        </p:nvSpPr>
        <p:spPr>
          <a:xfrm>
            <a:off x="548640" y="6400800"/>
            <a:ext cx="11091672" cy="274320"/>
          </a:xfrm>
          <a:prstGeom prst="rect">
            <a:avLst/>
          </a:prstGeom>
          <a:noFill/>
          <a:ln/>
        </p:spPr>
        <p:txBody>
          <a:bodyPr wrap="square" lIns="0" tIns="0" rIns="0" bIns="0"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Phishing Awareness Program  |  Slide 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ellipse">
            <a:avLst/>
          </a:prstGeom>
          <a:solidFill>
            <a:srgbClr val="1B3A6B"/>
          </a:solidFill>
          <a:ln/>
        </p:spPr>
      </p:sp>
      <p:pic>
        <p:nvPicPr>
          <p:cNvPr id="3" name="Image 0" descr="preencoded.png"/>
          <p:cNvPicPr>
            <a:picLocks noChangeAspect="1"/>
          </p:cNvPicPr>
          <p:nvPr/>
        </p:nvPicPr>
        <p:blipFill>
          <a:blip r:embed="rId3"/>
          <a:stretch>
            <a:fillRect/>
          </a:stretch>
        </p:blipFill>
        <p:spPr>
          <a:xfrm>
            <a:off x="733806" y="688086"/>
            <a:ext cx="452628" cy="452628"/>
          </a:xfrm>
          <a:prstGeom prst="rect">
            <a:avLst/>
          </a:prstGeom>
        </p:spPr>
      </p:pic>
      <p:sp>
        <p:nvSpPr>
          <p:cNvPr id="4" name="Text 1"/>
          <p:cNvSpPr/>
          <p:nvPr/>
        </p:nvSpPr>
        <p:spPr>
          <a:xfrm>
            <a:off x="1554480" y="457200"/>
            <a:ext cx="10085832" cy="822960"/>
          </a:xfrm>
          <a:prstGeom prst="rect">
            <a:avLst/>
          </a:prstGeom>
          <a:noFill/>
          <a:ln/>
        </p:spPr>
        <p:txBody>
          <a:bodyPr wrap="square" lIns="0" tIns="0" rIns="0" bIns="0" rtlCol="0" anchor="ctr"/>
          <a:lstStyle/>
          <a:p>
            <a:pPr marL="0" indent="0">
              <a:buNone/>
            </a:pPr>
            <a:r>
              <a:rPr lang="en-US" sz="3000" b="1" dirty="0">
                <a:solidFill>
                  <a:srgbClr val="1B3A6B"/>
                </a:solidFill>
                <a:latin typeface="Cambria" pitchFamily="34" charset="0"/>
                <a:ea typeface="Cambria" pitchFamily="34" charset="-122"/>
                <a:cs typeface="Cambria" pitchFamily="34" charset="-120"/>
              </a:rPr>
              <a:t>Social Engineering Techniques</a:t>
            </a:r>
            <a:endParaRPr lang="en-US" sz="3000" dirty="0"/>
          </a:p>
        </p:txBody>
      </p:sp>
      <p:sp>
        <p:nvSpPr>
          <p:cNvPr id="5" name="Shape 2"/>
          <p:cNvSpPr/>
          <p:nvPr/>
        </p:nvSpPr>
        <p:spPr>
          <a:xfrm>
            <a:off x="548640" y="1691640"/>
            <a:ext cx="11091672" cy="777240"/>
          </a:xfrm>
          <a:prstGeom prst="roundRect">
            <a:avLst>
              <a:gd name="adj" fmla="val 11765"/>
            </a:avLst>
          </a:prstGeom>
          <a:solidFill>
            <a:srgbClr val="EAF2FB"/>
          </a:solidFill>
          <a:ln/>
        </p:spPr>
      </p:sp>
      <p:sp>
        <p:nvSpPr>
          <p:cNvPr id="6" name="Shape 3"/>
          <p:cNvSpPr/>
          <p:nvPr/>
        </p:nvSpPr>
        <p:spPr>
          <a:xfrm>
            <a:off x="777240" y="1824228"/>
            <a:ext cx="512064" cy="512064"/>
          </a:xfrm>
          <a:prstGeom prst="ellipse">
            <a:avLst/>
          </a:prstGeom>
          <a:solidFill>
            <a:srgbClr val="2E75B6"/>
          </a:solidFill>
          <a:ln/>
        </p:spPr>
      </p:sp>
      <p:sp>
        <p:nvSpPr>
          <p:cNvPr id="7" name="Text 4"/>
          <p:cNvSpPr/>
          <p:nvPr/>
        </p:nvSpPr>
        <p:spPr>
          <a:xfrm>
            <a:off x="777240" y="1824228"/>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8" name="Text 5"/>
          <p:cNvSpPr/>
          <p:nvPr/>
        </p:nvSpPr>
        <p:spPr>
          <a:xfrm>
            <a:off x="1508760" y="1691640"/>
            <a:ext cx="9994392" cy="777240"/>
          </a:xfrm>
          <a:prstGeom prst="rect">
            <a:avLst/>
          </a:prstGeom>
          <a:noFill/>
          <a:ln/>
        </p:spPr>
        <p:txBody>
          <a:bodyPr wrap="square" lIns="0" tIns="0" rIns="0" bIns="0" rtlCol="0" anchor="ctr"/>
          <a:lstStyle/>
          <a:p>
            <a:pPr marL="0" indent="0">
              <a:buNone/>
            </a:pPr>
            <a:r>
              <a:rPr lang="en-US" sz="1500" dirty="0">
                <a:solidFill>
                  <a:srgbClr val="1F2D3D"/>
                </a:solidFill>
                <a:latin typeface="Calibri" pitchFamily="34" charset="0"/>
                <a:ea typeface="Calibri" pitchFamily="34" charset="-122"/>
                <a:cs typeface="Calibri" pitchFamily="34" charset="-120"/>
              </a:rPr>
              <a:t>Creating a sense of urgency or fear</a:t>
            </a:r>
            <a:endParaRPr lang="en-US" sz="1500" dirty="0"/>
          </a:p>
        </p:txBody>
      </p:sp>
      <p:sp>
        <p:nvSpPr>
          <p:cNvPr id="9" name="Shape 6"/>
          <p:cNvSpPr/>
          <p:nvPr/>
        </p:nvSpPr>
        <p:spPr>
          <a:xfrm>
            <a:off x="548640" y="2578608"/>
            <a:ext cx="11091672" cy="777240"/>
          </a:xfrm>
          <a:prstGeom prst="roundRect">
            <a:avLst>
              <a:gd name="adj" fmla="val 11765"/>
            </a:avLst>
          </a:prstGeom>
          <a:solidFill>
            <a:srgbClr val="EAF2FB"/>
          </a:solidFill>
          <a:ln/>
        </p:spPr>
      </p:sp>
      <p:sp>
        <p:nvSpPr>
          <p:cNvPr id="10" name="Shape 7"/>
          <p:cNvSpPr/>
          <p:nvPr/>
        </p:nvSpPr>
        <p:spPr>
          <a:xfrm>
            <a:off x="777240" y="2711196"/>
            <a:ext cx="512064" cy="512064"/>
          </a:xfrm>
          <a:prstGeom prst="ellipse">
            <a:avLst/>
          </a:prstGeom>
          <a:solidFill>
            <a:srgbClr val="2E75B6"/>
          </a:solidFill>
          <a:ln/>
        </p:spPr>
      </p:sp>
      <p:sp>
        <p:nvSpPr>
          <p:cNvPr id="11" name="Text 8"/>
          <p:cNvSpPr/>
          <p:nvPr/>
        </p:nvSpPr>
        <p:spPr>
          <a:xfrm>
            <a:off x="777240" y="2711196"/>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2" name="Text 9"/>
          <p:cNvSpPr/>
          <p:nvPr/>
        </p:nvSpPr>
        <p:spPr>
          <a:xfrm>
            <a:off x="1508760" y="2578608"/>
            <a:ext cx="9994392" cy="777240"/>
          </a:xfrm>
          <a:prstGeom prst="rect">
            <a:avLst/>
          </a:prstGeom>
          <a:noFill/>
          <a:ln/>
        </p:spPr>
        <p:txBody>
          <a:bodyPr wrap="square" lIns="0" tIns="0" rIns="0" bIns="0" rtlCol="0" anchor="ctr"/>
          <a:lstStyle/>
          <a:p>
            <a:pPr marL="0" indent="0">
              <a:buNone/>
            </a:pPr>
            <a:r>
              <a:rPr lang="en-US" sz="1500" dirty="0">
                <a:solidFill>
                  <a:srgbClr val="1F2D3D"/>
                </a:solidFill>
                <a:latin typeface="Calibri" pitchFamily="34" charset="0"/>
                <a:ea typeface="Calibri" pitchFamily="34" charset="-122"/>
                <a:cs typeface="Calibri" pitchFamily="34" charset="-120"/>
              </a:rPr>
              <a:t>Pretending to be IT support or a bank official</a:t>
            </a:r>
            <a:endParaRPr lang="en-US" sz="1500" dirty="0"/>
          </a:p>
        </p:txBody>
      </p:sp>
      <p:sp>
        <p:nvSpPr>
          <p:cNvPr id="13" name="Shape 10"/>
          <p:cNvSpPr/>
          <p:nvPr/>
        </p:nvSpPr>
        <p:spPr>
          <a:xfrm>
            <a:off x="548640" y="3465576"/>
            <a:ext cx="11091672" cy="777240"/>
          </a:xfrm>
          <a:prstGeom prst="roundRect">
            <a:avLst>
              <a:gd name="adj" fmla="val 11765"/>
            </a:avLst>
          </a:prstGeom>
          <a:solidFill>
            <a:srgbClr val="EAF2FB"/>
          </a:solidFill>
          <a:ln/>
        </p:spPr>
      </p:sp>
      <p:sp>
        <p:nvSpPr>
          <p:cNvPr id="14" name="Shape 11"/>
          <p:cNvSpPr/>
          <p:nvPr/>
        </p:nvSpPr>
        <p:spPr>
          <a:xfrm>
            <a:off x="777240" y="3598164"/>
            <a:ext cx="512064" cy="512064"/>
          </a:xfrm>
          <a:prstGeom prst="ellipse">
            <a:avLst/>
          </a:prstGeom>
          <a:solidFill>
            <a:srgbClr val="2E75B6"/>
          </a:solidFill>
          <a:ln/>
        </p:spPr>
      </p:sp>
      <p:sp>
        <p:nvSpPr>
          <p:cNvPr id="15" name="Text 12"/>
          <p:cNvSpPr/>
          <p:nvPr/>
        </p:nvSpPr>
        <p:spPr>
          <a:xfrm>
            <a:off x="777240" y="3598164"/>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6" name="Text 13"/>
          <p:cNvSpPr/>
          <p:nvPr/>
        </p:nvSpPr>
        <p:spPr>
          <a:xfrm>
            <a:off x="1508760" y="3465576"/>
            <a:ext cx="9994392" cy="777240"/>
          </a:xfrm>
          <a:prstGeom prst="rect">
            <a:avLst/>
          </a:prstGeom>
          <a:noFill/>
          <a:ln/>
        </p:spPr>
        <p:txBody>
          <a:bodyPr wrap="square" lIns="0" tIns="0" rIns="0" bIns="0" rtlCol="0" anchor="ctr"/>
          <a:lstStyle/>
          <a:p>
            <a:pPr marL="0" indent="0">
              <a:buNone/>
            </a:pPr>
            <a:r>
              <a:rPr lang="en-US" sz="1500" dirty="0">
                <a:solidFill>
                  <a:srgbClr val="1F2D3D"/>
                </a:solidFill>
                <a:latin typeface="Calibri" pitchFamily="34" charset="0"/>
                <a:ea typeface="Calibri" pitchFamily="34" charset="-122"/>
                <a:cs typeface="Calibri" pitchFamily="34" charset="-120"/>
              </a:rPr>
              <a:t>Offering fake rewards, discounts, or prizes</a:t>
            </a:r>
            <a:endParaRPr lang="en-US" sz="1500" dirty="0"/>
          </a:p>
        </p:txBody>
      </p:sp>
      <p:sp>
        <p:nvSpPr>
          <p:cNvPr id="17" name="Shape 14"/>
          <p:cNvSpPr/>
          <p:nvPr/>
        </p:nvSpPr>
        <p:spPr>
          <a:xfrm>
            <a:off x="548640" y="4352544"/>
            <a:ext cx="11091672" cy="777240"/>
          </a:xfrm>
          <a:prstGeom prst="roundRect">
            <a:avLst>
              <a:gd name="adj" fmla="val 11765"/>
            </a:avLst>
          </a:prstGeom>
          <a:solidFill>
            <a:srgbClr val="EAF2FB"/>
          </a:solidFill>
          <a:ln/>
        </p:spPr>
      </p:sp>
      <p:sp>
        <p:nvSpPr>
          <p:cNvPr id="18" name="Shape 15"/>
          <p:cNvSpPr/>
          <p:nvPr/>
        </p:nvSpPr>
        <p:spPr>
          <a:xfrm>
            <a:off x="777240" y="4485132"/>
            <a:ext cx="512064" cy="512064"/>
          </a:xfrm>
          <a:prstGeom prst="ellipse">
            <a:avLst/>
          </a:prstGeom>
          <a:solidFill>
            <a:srgbClr val="2E75B6"/>
          </a:solidFill>
          <a:ln/>
        </p:spPr>
      </p:sp>
      <p:sp>
        <p:nvSpPr>
          <p:cNvPr id="19" name="Text 16"/>
          <p:cNvSpPr/>
          <p:nvPr/>
        </p:nvSpPr>
        <p:spPr>
          <a:xfrm>
            <a:off x="777240" y="4485132"/>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20" name="Text 17"/>
          <p:cNvSpPr/>
          <p:nvPr/>
        </p:nvSpPr>
        <p:spPr>
          <a:xfrm>
            <a:off x="1508760" y="4352544"/>
            <a:ext cx="9994392" cy="777240"/>
          </a:xfrm>
          <a:prstGeom prst="rect">
            <a:avLst/>
          </a:prstGeom>
          <a:noFill/>
          <a:ln/>
        </p:spPr>
        <p:txBody>
          <a:bodyPr wrap="square" lIns="0" tIns="0" rIns="0" bIns="0" rtlCol="0" anchor="ctr"/>
          <a:lstStyle/>
          <a:p>
            <a:pPr marL="0" indent="0">
              <a:buNone/>
            </a:pPr>
            <a:r>
              <a:rPr lang="en-US" sz="1500" dirty="0">
                <a:solidFill>
                  <a:srgbClr val="1F2D3D"/>
                </a:solidFill>
                <a:latin typeface="Calibri" pitchFamily="34" charset="0"/>
                <a:ea typeface="Calibri" pitchFamily="34" charset="-122"/>
                <a:cs typeface="Calibri" pitchFamily="34" charset="-120"/>
              </a:rPr>
              <a:t>Building trust first, then asking for information</a:t>
            </a:r>
            <a:endParaRPr lang="en-US" sz="1500" dirty="0"/>
          </a:p>
        </p:txBody>
      </p:sp>
      <p:sp>
        <p:nvSpPr>
          <p:cNvPr id="21" name="Shape 18"/>
          <p:cNvSpPr/>
          <p:nvPr/>
        </p:nvSpPr>
        <p:spPr>
          <a:xfrm>
            <a:off x="548640" y="5239512"/>
            <a:ext cx="11091672" cy="777240"/>
          </a:xfrm>
          <a:prstGeom prst="roundRect">
            <a:avLst>
              <a:gd name="adj" fmla="val 11765"/>
            </a:avLst>
          </a:prstGeom>
          <a:solidFill>
            <a:srgbClr val="EAF2FB"/>
          </a:solidFill>
          <a:ln/>
        </p:spPr>
      </p:sp>
      <p:sp>
        <p:nvSpPr>
          <p:cNvPr id="22" name="Shape 19"/>
          <p:cNvSpPr/>
          <p:nvPr/>
        </p:nvSpPr>
        <p:spPr>
          <a:xfrm>
            <a:off x="777240" y="5372100"/>
            <a:ext cx="512064" cy="512064"/>
          </a:xfrm>
          <a:prstGeom prst="ellipse">
            <a:avLst/>
          </a:prstGeom>
          <a:solidFill>
            <a:srgbClr val="2E75B6"/>
          </a:solidFill>
          <a:ln/>
        </p:spPr>
      </p:sp>
      <p:sp>
        <p:nvSpPr>
          <p:cNvPr id="23" name="Text 20"/>
          <p:cNvSpPr/>
          <p:nvPr/>
        </p:nvSpPr>
        <p:spPr>
          <a:xfrm>
            <a:off x="777240" y="5372100"/>
            <a:ext cx="512064" cy="512064"/>
          </a:xfrm>
          <a:prstGeom prst="rect">
            <a:avLst/>
          </a:prstGeom>
          <a:noFill/>
          <a:ln/>
        </p:spPr>
        <p:txBody>
          <a:bodyPr wrap="square" lIns="0" tIns="0" rIns="0" bIns="0" rtlCol="0" anchor="ctr"/>
          <a:lstStyle/>
          <a:p>
            <a:pPr marL="0" indent="0" algn="ctr">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4" name="Text 21"/>
          <p:cNvSpPr/>
          <p:nvPr/>
        </p:nvSpPr>
        <p:spPr>
          <a:xfrm>
            <a:off x="1508760" y="5239512"/>
            <a:ext cx="9994392" cy="777240"/>
          </a:xfrm>
          <a:prstGeom prst="rect">
            <a:avLst/>
          </a:prstGeom>
          <a:noFill/>
          <a:ln/>
        </p:spPr>
        <p:txBody>
          <a:bodyPr wrap="square" lIns="0" tIns="0" rIns="0" bIns="0" rtlCol="0" anchor="ctr"/>
          <a:lstStyle/>
          <a:p>
            <a:pPr marL="0" indent="0">
              <a:buNone/>
            </a:pPr>
            <a:r>
              <a:rPr lang="en-US" sz="1500" dirty="0">
                <a:solidFill>
                  <a:srgbClr val="1F2D3D"/>
                </a:solidFill>
                <a:latin typeface="Calibri" pitchFamily="34" charset="0"/>
                <a:ea typeface="Calibri" pitchFamily="34" charset="-122"/>
                <a:cs typeface="Calibri" pitchFamily="34" charset="-120"/>
              </a:rPr>
              <a:t>Using authority, such as a boss, police, or government office</a:t>
            </a:r>
            <a:endParaRPr lang="en-US" sz="1500" dirty="0"/>
          </a:p>
        </p:txBody>
      </p:sp>
      <p:sp>
        <p:nvSpPr>
          <p:cNvPr id="25" name="Text 22"/>
          <p:cNvSpPr/>
          <p:nvPr/>
        </p:nvSpPr>
        <p:spPr>
          <a:xfrm>
            <a:off x="548640" y="6400800"/>
            <a:ext cx="11091672" cy="274320"/>
          </a:xfrm>
          <a:prstGeom prst="rect">
            <a:avLst/>
          </a:prstGeom>
          <a:noFill/>
          <a:ln/>
        </p:spPr>
        <p:txBody>
          <a:bodyPr wrap="square" lIns="0" tIns="0" rIns="0" bIns="0"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Phishing Awareness Program  |  Slide 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ellipse">
            <a:avLst/>
          </a:prstGeom>
          <a:solidFill>
            <a:srgbClr val="1B3A6B"/>
          </a:solidFill>
          <a:ln/>
        </p:spPr>
      </p:sp>
      <p:pic>
        <p:nvPicPr>
          <p:cNvPr id="3" name="Image 0" descr="preencoded.png"/>
          <p:cNvPicPr>
            <a:picLocks noChangeAspect="1"/>
          </p:cNvPicPr>
          <p:nvPr/>
        </p:nvPicPr>
        <p:blipFill>
          <a:blip r:embed="rId3"/>
          <a:stretch>
            <a:fillRect/>
          </a:stretch>
        </p:blipFill>
        <p:spPr>
          <a:xfrm>
            <a:off x="733806" y="688086"/>
            <a:ext cx="452628" cy="452628"/>
          </a:xfrm>
          <a:prstGeom prst="rect">
            <a:avLst/>
          </a:prstGeom>
        </p:spPr>
      </p:pic>
      <p:sp>
        <p:nvSpPr>
          <p:cNvPr id="4" name="Text 1"/>
          <p:cNvSpPr/>
          <p:nvPr/>
        </p:nvSpPr>
        <p:spPr>
          <a:xfrm>
            <a:off x="1554480" y="457200"/>
            <a:ext cx="10085832" cy="822960"/>
          </a:xfrm>
          <a:prstGeom prst="rect">
            <a:avLst/>
          </a:prstGeom>
          <a:noFill/>
          <a:ln/>
        </p:spPr>
        <p:txBody>
          <a:bodyPr wrap="square" lIns="0" tIns="0" rIns="0" bIns="0" rtlCol="0" anchor="ctr"/>
          <a:lstStyle/>
          <a:p>
            <a:pPr marL="0" indent="0">
              <a:buNone/>
            </a:pPr>
            <a:r>
              <a:rPr lang="en-US" sz="3000" b="1" dirty="0">
                <a:solidFill>
                  <a:srgbClr val="1B3A6B"/>
                </a:solidFill>
                <a:latin typeface="Cambria" pitchFamily="34" charset="0"/>
                <a:ea typeface="Cambria" pitchFamily="34" charset="-122"/>
                <a:cs typeface="Cambria" pitchFamily="34" charset="-120"/>
              </a:rPr>
              <a:t>Real-Life Example</a:t>
            </a:r>
            <a:endParaRPr lang="en-US" sz="3000" dirty="0"/>
          </a:p>
        </p:txBody>
      </p:sp>
      <p:sp>
        <p:nvSpPr>
          <p:cNvPr id="5" name="Shape 2"/>
          <p:cNvSpPr/>
          <p:nvPr/>
        </p:nvSpPr>
        <p:spPr>
          <a:xfrm>
            <a:off x="539496" y="2103120"/>
            <a:ext cx="2606040" cy="3566160"/>
          </a:xfrm>
          <a:prstGeom prst="roundRect">
            <a:avLst>
              <a:gd name="adj" fmla="val 4211"/>
            </a:avLst>
          </a:prstGeom>
          <a:solidFill>
            <a:srgbClr val="EAF2FB"/>
          </a:solidFill>
          <a:ln/>
        </p:spPr>
      </p:sp>
      <p:sp>
        <p:nvSpPr>
          <p:cNvPr id="6" name="Text 3"/>
          <p:cNvSpPr/>
          <p:nvPr/>
        </p:nvSpPr>
        <p:spPr>
          <a:xfrm>
            <a:off x="676656" y="2331720"/>
            <a:ext cx="2331720" cy="365760"/>
          </a:xfrm>
          <a:prstGeom prst="rect">
            <a:avLst/>
          </a:prstGeom>
          <a:noFill/>
          <a:ln/>
        </p:spPr>
        <p:txBody>
          <a:bodyPr wrap="square" lIns="0" tIns="0" rIns="0" bIns="0" rtlCol="0" anchor="ctr"/>
          <a:lstStyle/>
          <a:p>
            <a:pPr marL="0" indent="0" algn="ctr">
              <a:buNone/>
            </a:pPr>
            <a:r>
              <a:rPr lang="en-US" sz="1200" dirty="0">
                <a:solidFill>
                  <a:srgbClr val="5B6B7F"/>
                </a:solidFill>
                <a:latin typeface="Calibri" pitchFamily="34" charset="0"/>
                <a:ea typeface="Calibri" pitchFamily="34" charset="-122"/>
                <a:cs typeface="Calibri" pitchFamily="34" charset="-120"/>
              </a:rPr>
              <a:t>Step 1</a:t>
            </a:r>
            <a:endParaRPr lang="en-US" sz="1200" dirty="0"/>
          </a:p>
        </p:txBody>
      </p:sp>
      <p:sp>
        <p:nvSpPr>
          <p:cNvPr id="7" name="Text 4"/>
          <p:cNvSpPr/>
          <p:nvPr/>
        </p:nvSpPr>
        <p:spPr>
          <a:xfrm>
            <a:off x="676656" y="2743200"/>
            <a:ext cx="2331720" cy="457200"/>
          </a:xfrm>
          <a:prstGeom prst="rect">
            <a:avLst/>
          </a:prstGeom>
          <a:noFill/>
          <a:ln/>
        </p:spPr>
        <p:txBody>
          <a:bodyPr wrap="square" lIns="0" tIns="0" rIns="0" bIns="0" rtlCol="0" anchor="ctr"/>
          <a:lstStyle/>
          <a:p>
            <a:pPr marL="0" indent="0" algn="ctr">
              <a:buNone/>
            </a:pPr>
            <a:r>
              <a:rPr lang="en-US" sz="1600" b="1" dirty="0">
                <a:solidFill>
                  <a:srgbClr val="1B3A6B"/>
                </a:solidFill>
                <a:latin typeface="Cambria" pitchFamily="34" charset="0"/>
                <a:ea typeface="Cambria" pitchFamily="34" charset="-122"/>
                <a:cs typeface="Cambria" pitchFamily="34" charset="-120"/>
              </a:rPr>
              <a:t>The Bait</a:t>
            </a:r>
            <a:endParaRPr lang="en-US" sz="1600" dirty="0"/>
          </a:p>
        </p:txBody>
      </p:sp>
      <p:sp>
        <p:nvSpPr>
          <p:cNvPr id="8" name="Text 5"/>
          <p:cNvSpPr/>
          <p:nvPr/>
        </p:nvSpPr>
        <p:spPr>
          <a:xfrm>
            <a:off x="722376" y="3337560"/>
            <a:ext cx="2240280" cy="2194560"/>
          </a:xfrm>
          <a:prstGeom prst="rect">
            <a:avLst/>
          </a:prstGeom>
          <a:noFill/>
          <a:ln/>
        </p:spPr>
        <p:txBody>
          <a:bodyPr wrap="square" lIns="0" tIns="0" rIns="0" bIns="0" rtlCol="0" anchor="t"/>
          <a:lstStyle/>
          <a:p>
            <a:pPr marL="0" indent="0" algn="ctr">
              <a:buNone/>
            </a:pPr>
            <a:r>
              <a:rPr lang="en-US" sz="1200" dirty="0">
                <a:solidFill>
                  <a:srgbClr val="1F2D3D"/>
                </a:solidFill>
                <a:latin typeface="Calibri" pitchFamily="34" charset="0"/>
                <a:ea typeface="Calibri" pitchFamily="34" charset="-122"/>
                <a:cs typeface="Calibri" pitchFamily="34" charset="-120"/>
              </a:rPr>
              <a:t>A fake "bank alert" email asks the user to confirm their account immediately.</a:t>
            </a:r>
            <a:endParaRPr lang="en-US" sz="1200" dirty="0"/>
          </a:p>
        </p:txBody>
      </p:sp>
      <p:sp>
        <p:nvSpPr>
          <p:cNvPr id="9" name="Text 6"/>
          <p:cNvSpPr/>
          <p:nvPr/>
        </p:nvSpPr>
        <p:spPr>
          <a:xfrm>
            <a:off x="3163824" y="3657600"/>
            <a:ext cx="192024" cy="457200"/>
          </a:xfrm>
          <a:prstGeom prst="rect">
            <a:avLst/>
          </a:prstGeom>
          <a:noFill/>
          <a:ln/>
        </p:spPr>
        <p:txBody>
          <a:bodyPr wrap="square" lIns="0" tIns="0" rIns="0" bIns="0" rtlCol="0" anchor="ctr"/>
          <a:lstStyle/>
          <a:p>
            <a:pPr marL="0" indent="0" algn="ctr">
              <a:buNone/>
            </a:pPr>
            <a:r>
              <a:rPr lang="en-US" sz="1800" b="1" dirty="0">
                <a:solidFill>
                  <a:srgbClr val="2E75B6"/>
                </a:solidFill>
                <a:latin typeface="Calibri" pitchFamily="34" charset="0"/>
                <a:ea typeface="Calibri" pitchFamily="34" charset="-122"/>
                <a:cs typeface="Calibri" pitchFamily="34" charset="-120"/>
              </a:rPr>
              <a:t>&gt;</a:t>
            </a:r>
            <a:endParaRPr lang="en-US" sz="1800" dirty="0"/>
          </a:p>
        </p:txBody>
      </p:sp>
      <p:sp>
        <p:nvSpPr>
          <p:cNvPr id="10" name="Shape 7"/>
          <p:cNvSpPr/>
          <p:nvPr/>
        </p:nvSpPr>
        <p:spPr>
          <a:xfrm>
            <a:off x="3374136" y="2103120"/>
            <a:ext cx="2606040" cy="3566160"/>
          </a:xfrm>
          <a:prstGeom prst="roundRect">
            <a:avLst>
              <a:gd name="adj" fmla="val 4211"/>
            </a:avLst>
          </a:prstGeom>
          <a:solidFill>
            <a:srgbClr val="EAF2FB"/>
          </a:solidFill>
          <a:ln/>
        </p:spPr>
      </p:sp>
      <p:sp>
        <p:nvSpPr>
          <p:cNvPr id="11" name="Text 8"/>
          <p:cNvSpPr/>
          <p:nvPr/>
        </p:nvSpPr>
        <p:spPr>
          <a:xfrm>
            <a:off x="3511296" y="2331720"/>
            <a:ext cx="2331720" cy="365760"/>
          </a:xfrm>
          <a:prstGeom prst="rect">
            <a:avLst/>
          </a:prstGeom>
          <a:noFill/>
          <a:ln/>
        </p:spPr>
        <p:txBody>
          <a:bodyPr wrap="square" lIns="0" tIns="0" rIns="0" bIns="0" rtlCol="0" anchor="ctr"/>
          <a:lstStyle/>
          <a:p>
            <a:pPr marL="0" indent="0" algn="ctr">
              <a:buNone/>
            </a:pPr>
            <a:r>
              <a:rPr lang="en-US" sz="1200" dirty="0">
                <a:solidFill>
                  <a:srgbClr val="5B6B7F"/>
                </a:solidFill>
                <a:latin typeface="Calibri" pitchFamily="34" charset="0"/>
                <a:ea typeface="Calibri" pitchFamily="34" charset="-122"/>
                <a:cs typeface="Calibri" pitchFamily="34" charset="-120"/>
              </a:rPr>
              <a:t>Step 2</a:t>
            </a:r>
            <a:endParaRPr lang="en-US" sz="1200" dirty="0"/>
          </a:p>
        </p:txBody>
      </p:sp>
      <p:sp>
        <p:nvSpPr>
          <p:cNvPr id="12" name="Text 9"/>
          <p:cNvSpPr/>
          <p:nvPr/>
        </p:nvSpPr>
        <p:spPr>
          <a:xfrm>
            <a:off x="3511296" y="2743200"/>
            <a:ext cx="2331720" cy="457200"/>
          </a:xfrm>
          <a:prstGeom prst="rect">
            <a:avLst/>
          </a:prstGeom>
          <a:noFill/>
          <a:ln/>
        </p:spPr>
        <p:txBody>
          <a:bodyPr wrap="square" lIns="0" tIns="0" rIns="0" bIns="0" rtlCol="0" anchor="ctr"/>
          <a:lstStyle/>
          <a:p>
            <a:pPr marL="0" indent="0" algn="ctr">
              <a:buNone/>
            </a:pPr>
            <a:r>
              <a:rPr lang="en-US" sz="1600" b="1" dirty="0">
                <a:solidFill>
                  <a:srgbClr val="1B3A6B"/>
                </a:solidFill>
                <a:latin typeface="Cambria" pitchFamily="34" charset="0"/>
                <a:ea typeface="Cambria" pitchFamily="34" charset="-122"/>
                <a:cs typeface="Cambria" pitchFamily="34" charset="-120"/>
              </a:rPr>
              <a:t>The Click</a:t>
            </a:r>
            <a:endParaRPr lang="en-US" sz="1600" dirty="0"/>
          </a:p>
        </p:txBody>
      </p:sp>
      <p:sp>
        <p:nvSpPr>
          <p:cNvPr id="13" name="Text 10"/>
          <p:cNvSpPr/>
          <p:nvPr/>
        </p:nvSpPr>
        <p:spPr>
          <a:xfrm>
            <a:off x="3557016" y="3337560"/>
            <a:ext cx="2240280" cy="2194560"/>
          </a:xfrm>
          <a:prstGeom prst="rect">
            <a:avLst/>
          </a:prstGeom>
          <a:noFill/>
          <a:ln/>
        </p:spPr>
        <p:txBody>
          <a:bodyPr wrap="square" lIns="0" tIns="0" rIns="0" bIns="0" rtlCol="0" anchor="t"/>
          <a:lstStyle/>
          <a:p>
            <a:pPr marL="0" indent="0" algn="ctr">
              <a:buNone/>
            </a:pPr>
            <a:r>
              <a:rPr lang="en-US" sz="1200" dirty="0">
                <a:solidFill>
                  <a:srgbClr val="1F2D3D"/>
                </a:solidFill>
                <a:latin typeface="Calibri" pitchFamily="34" charset="0"/>
                <a:ea typeface="Calibri" pitchFamily="34" charset="-122"/>
                <a:cs typeface="Calibri" pitchFamily="34" charset="-120"/>
              </a:rPr>
              <a:t>The link in the email leads to a cloned login page that looks completely real.</a:t>
            </a:r>
            <a:endParaRPr lang="en-US" sz="1200" dirty="0"/>
          </a:p>
        </p:txBody>
      </p:sp>
      <p:sp>
        <p:nvSpPr>
          <p:cNvPr id="14" name="Text 11"/>
          <p:cNvSpPr/>
          <p:nvPr/>
        </p:nvSpPr>
        <p:spPr>
          <a:xfrm>
            <a:off x="5998464" y="3657600"/>
            <a:ext cx="192024" cy="457200"/>
          </a:xfrm>
          <a:prstGeom prst="rect">
            <a:avLst/>
          </a:prstGeom>
          <a:noFill/>
          <a:ln/>
        </p:spPr>
        <p:txBody>
          <a:bodyPr wrap="square" lIns="0" tIns="0" rIns="0" bIns="0" rtlCol="0" anchor="ctr"/>
          <a:lstStyle/>
          <a:p>
            <a:pPr marL="0" indent="0" algn="ctr">
              <a:buNone/>
            </a:pPr>
            <a:r>
              <a:rPr lang="en-US" sz="1800" b="1" dirty="0">
                <a:solidFill>
                  <a:srgbClr val="2E75B6"/>
                </a:solidFill>
                <a:latin typeface="Calibri" pitchFamily="34" charset="0"/>
                <a:ea typeface="Calibri" pitchFamily="34" charset="-122"/>
                <a:cs typeface="Calibri" pitchFamily="34" charset="-120"/>
              </a:rPr>
              <a:t>&gt;</a:t>
            </a:r>
            <a:endParaRPr lang="en-US" sz="1800" dirty="0"/>
          </a:p>
        </p:txBody>
      </p:sp>
      <p:sp>
        <p:nvSpPr>
          <p:cNvPr id="15" name="Shape 12"/>
          <p:cNvSpPr/>
          <p:nvPr/>
        </p:nvSpPr>
        <p:spPr>
          <a:xfrm>
            <a:off x="6208776" y="2103120"/>
            <a:ext cx="2606040" cy="3566160"/>
          </a:xfrm>
          <a:prstGeom prst="roundRect">
            <a:avLst>
              <a:gd name="adj" fmla="val 4211"/>
            </a:avLst>
          </a:prstGeom>
          <a:solidFill>
            <a:srgbClr val="EAF2FB"/>
          </a:solidFill>
          <a:ln/>
        </p:spPr>
      </p:sp>
      <p:sp>
        <p:nvSpPr>
          <p:cNvPr id="16" name="Text 13"/>
          <p:cNvSpPr/>
          <p:nvPr/>
        </p:nvSpPr>
        <p:spPr>
          <a:xfrm>
            <a:off x="6345936" y="2331720"/>
            <a:ext cx="2331720" cy="365760"/>
          </a:xfrm>
          <a:prstGeom prst="rect">
            <a:avLst/>
          </a:prstGeom>
          <a:noFill/>
          <a:ln/>
        </p:spPr>
        <p:txBody>
          <a:bodyPr wrap="square" lIns="0" tIns="0" rIns="0" bIns="0" rtlCol="0" anchor="ctr"/>
          <a:lstStyle/>
          <a:p>
            <a:pPr marL="0" indent="0" algn="ctr">
              <a:buNone/>
            </a:pPr>
            <a:r>
              <a:rPr lang="en-US" sz="1200" dirty="0">
                <a:solidFill>
                  <a:srgbClr val="5B6B7F"/>
                </a:solidFill>
                <a:latin typeface="Calibri" pitchFamily="34" charset="0"/>
                <a:ea typeface="Calibri" pitchFamily="34" charset="-122"/>
                <a:cs typeface="Calibri" pitchFamily="34" charset="-120"/>
              </a:rPr>
              <a:t>Step 3</a:t>
            </a:r>
            <a:endParaRPr lang="en-US" sz="1200" dirty="0"/>
          </a:p>
        </p:txBody>
      </p:sp>
      <p:sp>
        <p:nvSpPr>
          <p:cNvPr id="17" name="Text 14"/>
          <p:cNvSpPr/>
          <p:nvPr/>
        </p:nvSpPr>
        <p:spPr>
          <a:xfrm>
            <a:off x="6345936" y="2743200"/>
            <a:ext cx="2331720" cy="457200"/>
          </a:xfrm>
          <a:prstGeom prst="rect">
            <a:avLst/>
          </a:prstGeom>
          <a:noFill/>
          <a:ln/>
        </p:spPr>
        <p:txBody>
          <a:bodyPr wrap="square" lIns="0" tIns="0" rIns="0" bIns="0" rtlCol="0" anchor="ctr"/>
          <a:lstStyle/>
          <a:p>
            <a:pPr marL="0" indent="0" algn="ctr">
              <a:buNone/>
            </a:pPr>
            <a:r>
              <a:rPr lang="en-US" sz="1600" b="1" dirty="0">
                <a:solidFill>
                  <a:srgbClr val="1B3A6B"/>
                </a:solidFill>
                <a:latin typeface="Cambria" pitchFamily="34" charset="0"/>
                <a:ea typeface="Cambria" pitchFamily="34" charset="-122"/>
                <a:cs typeface="Cambria" pitchFamily="34" charset="-120"/>
              </a:rPr>
              <a:t>The Trap</a:t>
            </a:r>
            <a:endParaRPr lang="en-US" sz="1600" dirty="0"/>
          </a:p>
        </p:txBody>
      </p:sp>
      <p:sp>
        <p:nvSpPr>
          <p:cNvPr id="18" name="Text 15"/>
          <p:cNvSpPr/>
          <p:nvPr/>
        </p:nvSpPr>
        <p:spPr>
          <a:xfrm>
            <a:off x="6391656" y="3337560"/>
            <a:ext cx="2240280" cy="2194560"/>
          </a:xfrm>
          <a:prstGeom prst="rect">
            <a:avLst/>
          </a:prstGeom>
          <a:noFill/>
          <a:ln/>
        </p:spPr>
        <p:txBody>
          <a:bodyPr wrap="square" lIns="0" tIns="0" rIns="0" bIns="0" rtlCol="0" anchor="t"/>
          <a:lstStyle/>
          <a:p>
            <a:pPr marL="0" indent="0" algn="ctr">
              <a:buNone/>
            </a:pPr>
            <a:r>
              <a:rPr lang="en-US" sz="1200" dirty="0">
                <a:solidFill>
                  <a:srgbClr val="1F2D3D"/>
                </a:solidFill>
                <a:latin typeface="Calibri" pitchFamily="34" charset="0"/>
                <a:ea typeface="Calibri" pitchFamily="34" charset="-122"/>
                <a:cs typeface="Calibri" pitchFamily="34" charset="-120"/>
              </a:rPr>
              <a:t>The user enters their username and password on the fake page.</a:t>
            </a:r>
            <a:endParaRPr lang="en-US" sz="1200" dirty="0"/>
          </a:p>
        </p:txBody>
      </p:sp>
      <p:sp>
        <p:nvSpPr>
          <p:cNvPr id="19" name="Text 16"/>
          <p:cNvSpPr/>
          <p:nvPr/>
        </p:nvSpPr>
        <p:spPr>
          <a:xfrm>
            <a:off x="8833104" y="3657600"/>
            <a:ext cx="192024" cy="457200"/>
          </a:xfrm>
          <a:prstGeom prst="rect">
            <a:avLst/>
          </a:prstGeom>
          <a:noFill/>
          <a:ln/>
        </p:spPr>
        <p:txBody>
          <a:bodyPr wrap="square" lIns="0" tIns="0" rIns="0" bIns="0" rtlCol="0" anchor="ctr"/>
          <a:lstStyle/>
          <a:p>
            <a:pPr marL="0" indent="0" algn="ctr">
              <a:buNone/>
            </a:pPr>
            <a:r>
              <a:rPr lang="en-US" sz="1800" b="1" dirty="0">
                <a:solidFill>
                  <a:srgbClr val="2E75B6"/>
                </a:solidFill>
                <a:latin typeface="Calibri" pitchFamily="34" charset="0"/>
                <a:ea typeface="Calibri" pitchFamily="34" charset="-122"/>
                <a:cs typeface="Calibri" pitchFamily="34" charset="-120"/>
              </a:rPr>
              <a:t>&gt;</a:t>
            </a:r>
            <a:endParaRPr lang="en-US" sz="1800" dirty="0"/>
          </a:p>
        </p:txBody>
      </p:sp>
      <p:sp>
        <p:nvSpPr>
          <p:cNvPr id="20" name="Shape 17"/>
          <p:cNvSpPr/>
          <p:nvPr/>
        </p:nvSpPr>
        <p:spPr>
          <a:xfrm>
            <a:off x="9043416" y="2103120"/>
            <a:ext cx="2606040" cy="3566160"/>
          </a:xfrm>
          <a:prstGeom prst="roundRect">
            <a:avLst>
              <a:gd name="adj" fmla="val 4211"/>
            </a:avLst>
          </a:prstGeom>
          <a:solidFill>
            <a:srgbClr val="1B3A6B"/>
          </a:solidFill>
          <a:ln/>
        </p:spPr>
      </p:sp>
      <p:sp>
        <p:nvSpPr>
          <p:cNvPr id="21" name="Text 18"/>
          <p:cNvSpPr/>
          <p:nvPr/>
        </p:nvSpPr>
        <p:spPr>
          <a:xfrm>
            <a:off x="9180576" y="2331720"/>
            <a:ext cx="2331720" cy="365760"/>
          </a:xfrm>
          <a:prstGeom prst="rect">
            <a:avLst/>
          </a:prstGeom>
          <a:noFill/>
          <a:ln/>
        </p:spPr>
        <p:txBody>
          <a:bodyPr wrap="square" lIns="0" tIns="0" rIns="0" bIns="0" rtlCol="0" anchor="ctr"/>
          <a:lstStyle/>
          <a:p>
            <a:pPr marL="0" indent="0" algn="ctr">
              <a:buNone/>
            </a:pPr>
            <a:r>
              <a:rPr lang="en-US" sz="1200" dirty="0">
                <a:solidFill>
                  <a:srgbClr val="EAF2FB"/>
                </a:solidFill>
                <a:latin typeface="Calibri" pitchFamily="34" charset="0"/>
                <a:ea typeface="Calibri" pitchFamily="34" charset="-122"/>
                <a:cs typeface="Calibri" pitchFamily="34" charset="-120"/>
              </a:rPr>
              <a:t>Step 4</a:t>
            </a:r>
            <a:endParaRPr lang="en-US" sz="1200" dirty="0"/>
          </a:p>
        </p:txBody>
      </p:sp>
      <p:sp>
        <p:nvSpPr>
          <p:cNvPr id="22" name="Text 19"/>
          <p:cNvSpPr/>
          <p:nvPr/>
        </p:nvSpPr>
        <p:spPr>
          <a:xfrm>
            <a:off x="9180576" y="2743200"/>
            <a:ext cx="233172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The Damage</a:t>
            </a:r>
            <a:endParaRPr lang="en-US" sz="1600" dirty="0"/>
          </a:p>
        </p:txBody>
      </p:sp>
      <p:sp>
        <p:nvSpPr>
          <p:cNvPr id="23" name="Text 20"/>
          <p:cNvSpPr/>
          <p:nvPr/>
        </p:nvSpPr>
        <p:spPr>
          <a:xfrm>
            <a:off x="9226296" y="3337560"/>
            <a:ext cx="2240280" cy="2194560"/>
          </a:xfrm>
          <a:prstGeom prst="rect">
            <a:avLst/>
          </a:prstGeom>
          <a:noFill/>
          <a:ln/>
        </p:spPr>
        <p:txBody>
          <a:bodyPr wrap="square" lIns="0" tIns="0" rIns="0" bIns="0" rtlCol="0" anchor="t"/>
          <a:lstStyle/>
          <a:p>
            <a:pPr marL="0" indent="0" algn="ctr">
              <a:buNone/>
            </a:pPr>
            <a:r>
              <a:rPr lang="en-US" sz="1200" dirty="0">
                <a:solidFill>
                  <a:srgbClr val="FFFFFF"/>
                </a:solidFill>
                <a:latin typeface="Calibri" pitchFamily="34" charset="0"/>
                <a:ea typeface="Calibri" pitchFamily="34" charset="-122"/>
                <a:cs typeface="Calibri" pitchFamily="34" charset="-120"/>
              </a:rPr>
              <a:t>The attacker now has full access to the real bank account.</a:t>
            </a:r>
            <a:endParaRPr lang="en-US" sz="1200" dirty="0"/>
          </a:p>
        </p:txBody>
      </p:sp>
      <p:sp>
        <p:nvSpPr>
          <p:cNvPr id="24" name="Text 21"/>
          <p:cNvSpPr/>
          <p:nvPr/>
        </p:nvSpPr>
        <p:spPr>
          <a:xfrm>
            <a:off x="548640" y="5943600"/>
            <a:ext cx="11091672" cy="457200"/>
          </a:xfrm>
          <a:prstGeom prst="rect">
            <a:avLst/>
          </a:prstGeom>
          <a:noFill/>
          <a:ln/>
        </p:spPr>
        <p:txBody>
          <a:bodyPr wrap="square" lIns="0" tIns="0" rIns="0" bIns="0" rtlCol="0" anchor="ctr"/>
          <a:lstStyle/>
          <a:p>
            <a:pPr marL="0" indent="0" algn="ctr">
              <a:buNone/>
            </a:pPr>
            <a:r>
              <a:rPr lang="en-US" sz="1300" i="1" dirty="0">
                <a:solidFill>
                  <a:srgbClr val="1B3A6B"/>
                </a:solidFill>
                <a:latin typeface="Calibri" pitchFamily="34" charset="0"/>
                <a:ea typeface="Calibri" pitchFamily="34" charset="-122"/>
                <a:cs typeface="Calibri" pitchFamily="34" charset="-120"/>
              </a:rPr>
              <a:t>Lesson: Always verify a request independently before entering your login details.</a:t>
            </a:r>
            <a:endParaRPr lang="en-US" sz="1300" dirty="0"/>
          </a:p>
        </p:txBody>
      </p:sp>
      <p:sp>
        <p:nvSpPr>
          <p:cNvPr id="25" name="Text 22"/>
          <p:cNvSpPr/>
          <p:nvPr/>
        </p:nvSpPr>
        <p:spPr>
          <a:xfrm>
            <a:off x="548640" y="6400800"/>
            <a:ext cx="11091672" cy="274320"/>
          </a:xfrm>
          <a:prstGeom prst="rect">
            <a:avLst/>
          </a:prstGeom>
          <a:noFill/>
          <a:ln/>
        </p:spPr>
        <p:txBody>
          <a:bodyPr wrap="square" lIns="0" tIns="0" rIns="0" bIns="0"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Phishing Awareness Program  |  Slide 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ellipse">
            <a:avLst/>
          </a:prstGeom>
          <a:solidFill>
            <a:srgbClr val="1B3A6B"/>
          </a:solidFill>
          <a:ln/>
        </p:spPr>
      </p:sp>
      <p:pic>
        <p:nvPicPr>
          <p:cNvPr id="3" name="Image 0" descr="preencoded.png"/>
          <p:cNvPicPr>
            <a:picLocks noChangeAspect="1"/>
          </p:cNvPicPr>
          <p:nvPr/>
        </p:nvPicPr>
        <p:blipFill>
          <a:blip r:embed="rId3"/>
          <a:stretch>
            <a:fillRect/>
          </a:stretch>
        </p:blipFill>
        <p:spPr>
          <a:xfrm>
            <a:off x="733806" y="688086"/>
            <a:ext cx="452628" cy="452628"/>
          </a:xfrm>
          <a:prstGeom prst="rect">
            <a:avLst/>
          </a:prstGeom>
        </p:spPr>
      </p:pic>
      <p:sp>
        <p:nvSpPr>
          <p:cNvPr id="4" name="Text 1"/>
          <p:cNvSpPr/>
          <p:nvPr/>
        </p:nvSpPr>
        <p:spPr>
          <a:xfrm>
            <a:off x="1554480" y="457200"/>
            <a:ext cx="10085832" cy="822960"/>
          </a:xfrm>
          <a:prstGeom prst="rect">
            <a:avLst/>
          </a:prstGeom>
          <a:noFill/>
          <a:ln/>
        </p:spPr>
        <p:txBody>
          <a:bodyPr wrap="square" lIns="0" tIns="0" rIns="0" bIns="0" rtlCol="0" anchor="ctr"/>
          <a:lstStyle/>
          <a:p>
            <a:pPr marL="0" indent="0">
              <a:buNone/>
            </a:pPr>
            <a:r>
              <a:rPr lang="en-US" sz="3000" b="1" dirty="0">
                <a:solidFill>
                  <a:srgbClr val="1B3A6B"/>
                </a:solidFill>
                <a:latin typeface="Cambria" pitchFamily="34" charset="0"/>
                <a:ea typeface="Cambria" pitchFamily="34" charset="-122"/>
                <a:cs typeface="Cambria" pitchFamily="34" charset="-120"/>
              </a:rPr>
              <a:t>Prevention Tips</a:t>
            </a:r>
            <a:endParaRPr lang="en-US" sz="3000" dirty="0"/>
          </a:p>
        </p:txBody>
      </p:sp>
      <p:sp>
        <p:nvSpPr>
          <p:cNvPr id="5" name="Shape 2"/>
          <p:cNvSpPr/>
          <p:nvPr/>
        </p:nvSpPr>
        <p:spPr>
          <a:xfrm>
            <a:off x="548640" y="1691640"/>
            <a:ext cx="11091672" cy="777240"/>
          </a:xfrm>
          <a:prstGeom prst="roundRect">
            <a:avLst>
              <a:gd name="adj" fmla="val 11765"/>
            </a:avLst>
          </a:prstGeom>
          <a:solidFill>
            <a:srgbClr val="EAF2FB"/>
          </a:solidFill>
          <a:ln/>
        </p:spPr>
      </p:sp>
      <p:sp>
        <p:nvSpPr>
          <p:cNvPr id="6" name="Shape 3"/>
          <p:cNvSpPr/>
          <p:nvPr/>
        </p:nvSpPr>
        <p:spPr>
          <a:xfrm>
            <a:off x="777240" y="1824228"/>
            <a:ext cx="512064" cy="512064"/>
          </a:xfrm>
          <a:prstGeom prst="ellipse">
            <a:avLst/>
          </a:prstGeom>
          <a:solidFill>
            <a:srgbClr val="1B3A6B"/>
          </a:solidFill>
          <a:ln/>
        </p:spPr>
      </p:sp>
      <p:sp>
        <p:nvSpPr>
          <p:cNvPr id="7" name="Text 4"/>
          <p:cNvSpPr/>
          <p:nvPr/>
        </p:nvSpPr>
        <p:spPr>
          <a:xfrm>
            <a:off x="777240" y="1824228"/>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8" name="Text 5"/>
          <p:cNvSpPr/>
          <p:nvPr/>
        </p:nvSpPr>
        <p:spPr>
          <a:xfrm>
            <a:off x="1508760" y="1691640"/>
            <a:ext cx="9994392" cy="777240"/>
          </a:xfrm>
          <a:prstGeom prst="rect">
            <a:avLst/>
          </a:prstGeom>
          <a:noFill/>
          <a:ln/>
        </p:spPr>
        <p:txBody>
          <a:bodyPr wrap="square" lIns="0" tIns="0" rIns="0" bIns="0" rtlCol="0" anchor="ctr"/>
          <a:lstStyle/>
          <a:p>
            <a:pPr marL="0" indent="0">
              <a:buNone/>
            </a:pPr>
            <a:r>
              <a:rPr lang="en-US" sz="1500" dirty="0">
                <a:solidFill>
                  <a:srgbClr val="1F2D3D"/>
                </a:solidFill>
                <a:latin typeface="Calibri" pitchFamily="34" charset="0"/>
                <a:ea typeface="Calibri" pitchFamily="34" charset="-122"/>
                <a:cs typeface="Calibri" pitchFamily="34" charset="-120"/>
              </a:rPr>
              <a:t>Never click suspicious links or open unexpected attachments</a:t>
            </a:r>
            <a:endParaRPr lang="en-US" sz="1500" dirty="0"/>
          </a:p>
        </p:txBody>
      </p:sp>
      <p:sp>
        <p:nvSpPr>
          <p:cNvPr id="9" name="Shape 6"/>
          <p:cNvSpPr/>
          <p:nvPr/>
        </p:nvSpPr>
        <p:spPr>
          <a:xfrm>
            <a:off x="548640" y="2578608"/>
            <a:ext cx="11091672" cy="777240"/>
          </a:xfrm>
          <a:prstGeom prst="roundRect">
            <a:avLst>
              <a:gd name="adj" fmla="val 11765"/>
            </a:avLst>
          </a:prstGeom>
          <a:solidFill>
            <a:srgbClr val="EAF2FB"/>
          </a:solidFill>
          <a:ln/>
        </p:spPr>
      </p:sp>
      <p:sp>
        <p:nvSpPr>
          <p:cNvPr id="10" name="Shape 7"/>
          <p:cNvSpPr/>
          <p:nvPr/>
        </p:nvSpPr>
        <p:spPr>
          <a:xfrm>
            <a:off x="777240" y="2711196"/>
            <a:ext cx="512064" cy="512064"/>
          </a:xfrm>
          <a:prstGeom prst="ellipse">
            <a:avLst/>
          </a:prstGeom>
          <a:solidFill>
            <a:srgbClr val="1B3A6B"/>
          </a:solidFill>
          <a:ln/>
        </p:spPr>
      </p:sp>
      <p:sp>
        <p:nvSpPr>
          <p:cNvPr id="11" name="Text 8"/>
          <p:cNvSpPr/>
          <p:nvPr/>
        </p:nvSpPr>
        <p:spPr>
          <a:xfrm>
            <a:off x="777240" y="2711196"/>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2" name="Text 9"/>
          <p:cNvSpPr/>
          <p:nvPr/>
        </p:nvSpPr>
        <p:spPr>
          <a:xfrm>
            <a:off x="1508760" y="2578608"/>
            <a:ext cx="9994392" cy="777240"/>
          </a:xfrm>
          <a:prstGeom prst="rect">
            <a:avLst/>
          </a:prstGeom>
          <a:noFill/>
          <a:ln/>
        </p:spPr>
        <p:txBody>
          <a:bodyPr wrap="square" lIns="0" tIns="0" rIns="0" bIns="0" rtlCol="0" anchor="ctr"/>
          <a:lstStyle/>
          <a:p>
            <a:pPr marL="0" indent="0">
              <a:buNone/>
            </a:pPr>
            <a:r>
              <a:rPr lang="en-US" sz="1500" dirty="0">
                <a:solidFill>
                  <a:srgbClr val="1F2D3D"/>
                </a:solidFill>
                <a:latin typeface="Calibri" pitchFamily="34" charset="0"/>
                <a:ea typeface="Calibri" pitchFamily="34" charset="-122"/>
                <a:cs typeface="Calibri" pitchFamily="34" charset="-120"/>
              </a:rPr>
              <a:t>Check the sender's email address carefully before replying</a:t>
            </a:r>
            <a:endParaRPr lang="en-US" sz="1500" dirty="0"/>
          </a:p>
        </p:txBody>
      </p:sp>
      <p:sp>
        <p:nvSpPr>
          <p:cNvPr id="13" name="Shape 10"/>
          <p:cNvSpPr/>
          <p:nvPr/>
        </p:nvSpPr>
        <p:spPr>
          <a:xfrm>
            <a:off x="548640" y="3465576"/>
            <a:ext cx="11091672" cy="777240"/>
          </a:xfrm>
          <a:prstGeom prst="roundRect">
            <a:avLst>
              <a:gd name="adj" fmla="val 11765"/>
            </a:avLst>
          </a:prstGeom>
          <a:solidFill>
            <a:srgbClr val="EAF2FB"/>
          </a:solidFill>
          <a:ln/>
        </p:spPr>
      </p:sp>
      <p:sp>
        <p:nvSpPr>
          <p:cNvPr id="14" name="Shape 11"/>
          <p:cNvSpPr/>
          <p:nvPr/>
        </p:nvSpPr>
        <p:spPr>
          <a:xfrm>
            <a:off x="777240" y="3598164"/>
            <a:ext cx="512064" cy="512064"/>
          </a:xfrm>
          <a:prstGeom prst="ellipse">
            <a:avLst/>
          </a:prstGeom>
          <a:solidFill>
            <a:srgbClr val="1B3A6B"/>
          </a:solidFill>
          <a:ln/>
        </p:spPr>
      </p:sp>
      <p:sp>
        <p:nvSpPr>
          <p:cNvPr id="15" name="Text 12"/>
          <p:cNvSpPr/>
          <p:nvPr/>
        </p:nvSpPr>
        <p:spPr>
          <a:xfrm>
            <a:off x="777240" y="3598164"/>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16" name="Text 13"/>
          <p:cNvSpPr/>
          <p:nvPr/>
        </p:nvSpPr>
        <p:spPr>
          <a:xfrm>
            <a:off x="1508760" y="3465576"/>
            <a:ext cx="9994392" cy="777240"/>
          </a:xfrm>
          <a:prstGeom prst="rect">
            <a:avLst/>
          </a:prstGeom>
          <a:noFill/>
          <a:ln/>
        </p:spPr>
        <p:txBody>
          <a:bodyPr wrap="square" lIns="0" tIns="0" rIns="0" bIns="0" rtlCol="0" anchor="ctr"/>
          <a:lstStyle/>
          <a:p>
            <a:pPr marL="0" indent="0">
              <a:buNone/>
            </a:pPr>
            <a:r>
              <a:rPr lang="en-US" sz="1500" dirty="0">
                <a:solidFill>
                  <a:srgbClr val="1F2D3D"/>
                </a:solidFill>
                <a:latin typeface="Calibri" pitchFamily="34" charset="0"/>
                <a:ea typeface="Calibri" pitchFamily="34" charset="-122"/>
                <a:cs typeface="Calibri" pitchFamily="34" charset="-120"/>
              </a:rPr>
              <a:t>Enable Two-Factor Authentication (2FA) on important accounts</a:t>
            </a:r>
            <a:endParaRPr lang="en-US" sz="1500" dirty="0"/>
          </a:p>
        </p:txBody>
      </p:sp>
      <p:sp>
        <p:nvSpPr>
          <p:cNvPr id="17" name="Shape 14"/>
          <p:cNvSpPr/>
          <p:nvPr/>
        </p:nvSpPr>
        <p:spPr>
          <a:xfrm>
            <a:off x="548640" y="4352544"/>
            <a:ext cx="11091672" cy="777240"/>
          </a:xfrm>
          <a:prstGeom prst="roundRect">
            <a:avLst>
              <a:gd name="adj" fmla="val 11765"/>
            </a:avLst>
          </a:prstGeom>
          <a:solidFill>
            <a:srgbClr val="EAF2FB"/>
          </a:solidFill>
          <a:ln/>
        </p:spPr>
      </p:sp>
      <p:sp>
        <p:nvSpPr>
          <p:cNvPr id="18" name="Shape 15"/>
          <p:cNvSpPr/>
          <p:nvPr/>
        </p:nvSpPr>
        <p:spPr>
          <a:xfrm>
            <a:off x="777240" y="4485132"/>
            <a:ext cx="512064" cy="512064"/>
          </a:xfrm>
          <a:prstGeom prst="ellipse">
            <a:avLst/>
          </a:prstGeom>
          <a:solidFill>
            <a:srgbClr val="1B3A6B"/>
          </a:solidFill>
          <a:ln/>
        </p:spPr>
      </p:sp>
      <p:sp>
        <p:nvSpPr>
          <p:cNvPr id="19" name="Text 16"/>
          <p:cNvSpPr/>
          <p:nvPr/>
        </p:nvSpPr>
        <p:spPr>
          <a:xfrm>
            <a:off x="777240" y="4485132"/>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0" name="Text 17"/>
          <p:cNvSpPr/>
          <p:nvPr/>
        </p:nvSpPr>
        <p:spPr>
          <a:xfrm>
            <a:off x="1508760" y="4352544"/>
            <a:ext cx="9994392" cy="777240"/>
          </a:xfrm>
          <a:prstGeom prst="rect">
            <a:avLst/>
          </a:prstGeom>
          <a:noFill/>
          <a:ln/>
        </p:spPr>
        <p:txBody>
          <a:bodyPr wrap="square" lIns="0" tIns="0" rIns="0" bIns="0" rtlCol="0" anchor="ctr"/>
          <a:lstStyle/>
          <a:p>
            <a:pPr marL="0" indent="0">
              <a:buNone/>
            </a:pPr>
            <a:r>
              <a:rPr lang="en-US" sz="1500" dirty="0">
                <a:solidFill>
                  <a:srgbClr val="1F2D3D"/>
                </a:solidFill>
                <a:latin typeface="Calibri" pitchFamily="34" charset="0"/>
                <a:ea typeface="Calibri" pitchFamily="34" charset="-122"/>
                <a:cs typeface="Calibri" pitchFamily="34" charset="-120"/>
              </a:rPr>
              <a:t>Keep your software, browser, and antivirus updated</a:t>
            </a:r>
            <a:endParaRPr lang="en-US" sz="1500" dirty="0"/>
          </a:p>
        </p:txBody>
      </p:sp>
      <p:sp>
        <p:nvSpPr>
          <p:cNvPr id="21" name="Shape 18"/>
          <p:cNvSpPr/>
          <p:nvPr/>
        </p:nvSpPr>
        <p:spPr>
          <a:xfrm>
            <a:off x="548640" y="5239512"/>
            <a:ext cx="11091672" cy="777240"/>
          </a:xfrm>
          <a:prstGeom prst="roundRect">
            <a:avLst>
              <a:gd name="adj" fmla="val 11765"/>
            </a:avLst>
          </a:prstGeom>
          <a:solidFill>
            <a:srgbClr val="EAF2FB"/>
          </a:solidFill>
          <a:ln/>
        </p:spPr>
      </p:sp>
      <p:sp>
        <p:nvSpPr>
          <p:cNvPr id="22" name="Shape 19"/>
          <p:cNvSpPr/>
          <p:nvPr/>
        </p:nvSpPr>
        <p:spPr>
          <a:xfrm>
            <a:off x="777240" y="5372100"/>
            <a:ext cx="512064" cy="512064"/>
          </a:xfrm>
          <a:prstGeom prst="ellipse">
            <a:avLst/>
          </a:prstGeom>
          <a:solidFill>
            <a:srgbClr val="1B3A6B"/>
          </a:solidFill>
          <a:ln/>
        </p:spPr>
      </p:sp>
      <p:sp>
        <p:nvSpPr>
          <p:cNvPr id="23" name="Text 20"/>
          <p:cNvSpPr/>
          <p:nvPr/>
        </p:nvSpPr>
        <p:spPr>
          <a:xfrm>
            <a:off x="777240" y="5372100"/>
            <a:ext cx="512064" cy="512064"/>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t>
            </a:r>
            <a:endParaRPr lang="en-US" sz="2000" dirty="0"/>
          </a:p>
        </p:txBody>
      </p:sp>
      <p:sp>
        <p:nvSpPr>
          <p:cNvPr id="24" name="Text 21"/>
          <p:cNvSpPr/>
          <p:nvPr/>
        </p:nvSpPr>
        <p:spPr>
          <a:xfrm>
            <a:off x="1508760" y="5239512"/>
            <a:ext cx="9994392" cy="777240"/>
          </a:xfrm>
          <a:prstGeom prst="rect">
            <a:avLst/>
          </a:prstGeom>
          <a:noFill/>
          <a:ln/>
        </p:spPr>
        <p:txBody>
          <a:bodyPr wrap="square" lIns="0" tIns="0" rIns="0" bIns="0" rtlCol="0" anchor="ctr"/>
          <a:lstStyle/>
          <a:p>
            <a:pPr marL="0" indent="0">
              <a:buNone/>
            </a:pPr>
            <a:r>
              <a:rPr lang="en-US" sz="1500" dirty="0">
                <a:solidFill>
                  <a:srgbClr val="1F2D3D"/>
                </a:solidFill>
                <a:latin typeface="Calibri" pitchFamily="34" charset="0"/>
                <a:ea typeface="Calibri" pitchFamily="34" charset="-122"/>
                <a:cs typeface="Calibri" pitchFamily="34" charset="-120"/>
              </a:rPr>
              <a:t>Report suspicious emails to IT support or your email provider</a:t>
            </a:r>
            <a:endParaRPr lang="en-US" sz="1500" dirty="0"/>
          </a:p>
        </p:txBody>
      </p:sp>
      <p:sp>
        <p:nvSpPr>
          <p:cNvPr id="25" name="Text 22"/>
          <p:cNvSpPr/>
          <p:nvPr/>
        </p:nvSpPr>
        <p:spPr>
          <a:xfrm>
            <a:off x="548640" y="6400800"/>
            <a:ext cx="11091672" cy="274320"/>
          </a:xfrm>
          <a:prstGeom prst="rect">
            <a:avLst/>
          </a:prstGeom>
          <a:noFill/>
          <a:ln/>
        </p:spPr>
        <p:txBody>
          <a:bodyPr wrap="square" lIns="0" tIns="0" rIns="0" bIns="0"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Phishing Awareness Program  |  Slide 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548640" y="502920"/>
            <a:ext cx="822960" cy="822960"/>
          </a:xfrm>
          <a:prstGeom prst="ellipse">
            <a:avLst/>
          </a:prstGeom>
          <a:solidFill>
            <a:srgbClr val="1B3A6B"/>
          </a:solidFill>
          <a:ln/>
        </p:spPr>
      </p:sp>
      <p:pic>
        <p:nvPicPr>
          <p:cNvPr id="3" name="Image 0" descr="preencoded.png"/>
          <p:cNvPicPr>
            <a:picLocks noChangeAspect="1"/>
          </p:cNvPicPr>
          <p:nvPr/>
        </p:nvPicPr>
        <p:blipFill>
          <a:blip r:embed="rId3"/>
          <a:stretch>
            <a:fillRect/>
          </a:stretch>
        </p:blipFill>
        <p:spPr>
          <a:xfrm>
            <a:off x="733806" y="688086"/>
            <a:ext cx="452628" cy="452628"/>
          </a:xfrm>
          <a:prstGeom prst="rect">
            <a:avLst/>
          </a:prstGeom>
        </p:spPr>
      </p:pic>
      <p:sp>
        <p:nvSpPr>
          <p:cNvPr id="4" name="Text 1"/>
          <p:cNvSpPr/>
          <p:nvPr/>
        </p:nvSpPr>
        <p:spPr>
          <a:xfrm>
            <a:off x="1554480" y="457200"/>
            <a:ext cx="10085832" cy="822960"/>
          </a:xfrm>
          <a:prstGeom prst="rect">
            <a:avLst/>
          </a:prstGeom>
          <a:noFill/>
          <a:ln/>
        </p:spPr>
        <p:txBody>
          <a:bodyPr wrap="square" lIns="0" tIns="0" rIns="0" bIns="0" rtlCol="0" anchor="ctr"/>
          <a:lstStyle/>
          <a:p>
            <a:pPr marL="0" indent="0">
              <a:buNone/>
            </a:pPr>
            <a:r>
              <a:rPr lang="en-US" sz="3000" b="1" dirty="0">
                <a:solidFill>
                  <a:srgbClr val="1B3A6B"/>
                </a:solidFill>
                <a:latin typeface="Cambria" pitchFamily="34" charset="0"/>
                <a:ea typeface="Cambria" pitchFamily="34" charset="-122"/>
                <a:cs typeface="Cambria" pitchFamily="34" charset="-120"/>
              </a:rPr>
              <a:t>Quiz: Test Your Knowledge</a:t>
            </a:r>
            <a:endParaRPr lang="en-US" sz="3000" dirty="0"/>
          </a:p>
        </p:txBody>
      </p:sp>
      <p:sp>
        <p:nvSpPr>
          <p:cNvPr id="5" name="Shape 2"/>
          <p:cNvSpPr/>
          <p:nvPr/>
        </p:nvSpPr>
        <p:spPr>
          <a:xfrm>
            <a:off x="548640" y="1554480"/>
            <a:ext cx="11091672" cy="1417320"/>
          </a:xfrm>
          <a:prstGeom prst="roundRect">
            <a:avLst>
              <a:gd name="adj" fmla="val 6452"/>
            </a:avLst>
          </a:prstGeom>
          <a:solidFill>
            <a:srgbClr val="EAF2FB"/>
          </a:solidFill>
          <a:ln/>
        </p:spPr>
      </p:sp>
      <p:sp>
        <p:nvSpPr>
          <p:cNvPr id="6" name="Text 3"/>
          <p:cNvSpPr/>
          <p:nvPr/>
        </p:nvSpPr>
        <p:spPr>
          <a:xfrm>
            <a:off x="777240" y="1645920"/>
            <a:ext cx="10634472" cy="365760"/>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1. What is the main goal of phishing?</a:t>
            </a:r>
            <a:endParaRPr lang="en-US" sz="1400" dirty="0"/>
          </a:p>
        </p:txBody>
      </p:sp>
      <p:sp>
        <p:nvSpPr>
          <p:cNvPr id="7" name="Text 4"/>
          <p:cNvSpPr/>
          <p:nvPr/>
        </p:nvSpPr>
        <p:spPr>
          <a:xfrm>
            <a:off x="777240" y="2057400"/>
            <a:ext cx="5225796"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A) Improve internet speed</a:t>
            </a:r>
            <a:endParaRPr lang="en-US" sz="1200" dirty="0"/>
          </a:p>
        </p:txBody>
      </p:sp>
      <p:sp>
        <p:nvSpPr>
          <p:cNvPr id="8" name="Text 5"/>
          <p:cNvSpPr/>
          <p:nvPr/>
        </p:nvSpPr>
        <p:spPr>
          <a:xfrm>
            <a:off x="6094476" y="2057400"/>
            <a:ext cx="5225796"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B) Steal personal information</a:t>
            </a:r>
            <a:endParaRPr lang="en-US" sz="1200" dirty="0"/>
          </a:p>
        </p:txBody>
      </p:sp>
      <p:sp>
        <p:nvSpPr>
          <p:cNvPr id="9" name="Text 6"/>
          <p:cNvSpPr/>
          <p:nvPr/>
        </p:nvSpPr>
        <p:spPr>
          <a:xfrm>
            <a:off x="777240" y="2468880"/>
            <a:ext cx="5225796"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C) Fix computer bugs</a:t>
            </a:r>
            <a:endParaRPr lang="en-US" sz="1200" dirty="0"/>
          </a:p>
        </p:txBody>
      </p:sp>
      <p:sp>
        <p:nvSpPr>
          <p:cNvPr id="10" name="Text 7"/>
          <p:cNvSpPr/>
          <p:nvPr/>
        </p:nvSpPr>
        <p:spPr>
          <a:xfrm>
            <a:off x="6094476" y="2468880"/>
            <a:ext cx="5225796"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D) Update software</a:t>
            </a:r>
            <a:endParaRPr lang="en-US" sz="1200" dirty="0"/>
          </a:p>
        </p:txBody>
      </p:sp>
      <p:sp>
        <p:nvSpPr>
          <p:cNvPr id="11" name="Shape 8"/>
          <p:cNvSpPr/>
          <p:nvPr/>
        </p:nvSpPr>
        <p:spPr>
          <a:xfrm>
            <a:off x="548640" y="3108960"/>
            <a:ext cx="11091672" cy="1417320"/>
          </a:xfrm>
          <a:prstGeom prst="roundRect">
            <a:avLst>
              <a:gd name="adj" fmla="val 6452"/>
            </a:avLst>
          </a:prstGeom>
          <a:solidFill>
            <a:srgbClr val="EAF2FB"/>
          </a:solidFill>
          <a:ln/>
        </p:spPr>
      </p:sp>
      <p:sp>
        <p:nvSpPr>
          <p:cNvPr id="12" name="Text 9"/>
          <p:cNvSpPr/>
          <p:nvPr/>
        </p:nvSpPr>
        <p:spPr>
          <a:xfrm>
            <a:off x="777240" y="3200400"/>
            <a:ext cx="10634472" cy="365760"/>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2. Which of these is a common sign of a phishing email?</a:t>
            </a:r>
            <a:endParaRPr lang="en-US" sz="1400" dirty="0"/>
          </a:p>
        </p:txBody>
      </p:sp>
      <p:sp>
        <p:nvSpPr>
          <p:cNvPr id="13" name="Text 10"/>
          <p:cNvSpPr/>
          <p:nvPr/>
        </p:nvSpPr>
        <p:spPr>
          <a:xfrm>
            <a:off x="777240" y="3611880"/>
            <a:ext cx="5225796"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A) Correct spelling and a personal greeting</a:t>
            </a:r>
            <a:endParaRPr lang="en-US" sz="1200" dirty="0"/>
          </a:p>
        </p:txBody>
      </p:sp>
      <p:sp>
        <p:nvSpPr>
          <p:cNvPr id="14" name="Text 11"/>
          <p:cNvSpPr/>
          <p:nvPr/>
        </p:nvSpPr>
        <p:spPr>
          <a:xfrm>
            <a:off x="6094476" y="3611880"/>
            <a:ext cx="5225796"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B) Urgent request with spelling mistakes</a:t>
            </a:r>
            <a:endParaRPr lang="en-US" sz="1200" dirty="0"/>
          </a:p>
        </p:txBody>
      </p:sp>
      <p:sp>
        <p:nvSpPr>
          <p:cNvPr id="15" name="Text 12"/>
          <p:cNvSpPr/>
          <p:nvPr/>
        </p:nvSpPr>
        <p:spPr>
          <a:xfrm>
            <a:off x="777240" y="4023360"/>
            <a:ext cx="5225796"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C) Email from a saved contact</a:t>
            </a:r>
            <a:endParaRPr lang="en-US" sz="1200" dirty="0"/>
          </a:p>
        </p:txBody>
      </p:sp>
      <p:sp>
        <p:nvSpPr>
          <p:cNvPr id="16" name="Text 13"/>
          <p:cNvSpPr/>
          <p:nvPr/>
        </p:nvSpPr>
        <p:spPr>
          <a:xfrm>
            <a:off x="6094476" y="4023360"/>
            <a:ext cx="5225796"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D) No links or attachments</a:t>
            </a:r>
            <a:endParaRPr lang="en-US" sz="1200" dirty="0"/>
          </a:p>
        </p:txBody>
      </p:sp>
      <p:sp>
        <p:nvSpPr>
          <p:cNvPr id="17" name="Shape 14"/>
          <p:cNvSpPr/>
          <p:nvPr/>
        </p:nvSpPr>
        <p:spPr>
          <a:xfrm>
            <a:off x="548640" y="4663440"/>
            <a:ext cx="11091672" cy="1417320"/>
          </a:xfrm>
          <a:prstGeom prst="roundRect">
            <a:avLst>
              <a:gd name="adj" fmla="val 6452"/>
            </a:avLst>
          </a:prstGeom>
          <a:solidFill>
            <a:srgbClr val="EAF2FB"/>
          </a:solidFill>
          <a:ln/>
        </p:spPr>
      </p:sp>
      <p:sp>
        <p:nvSpPr>
          <p:cNvPr id="18" name="Text 15"/>
          <p:cNvSpPr/>
          <p:nvPr/>
        </p:nvSpPr>
        <p:spPr>
          <a:xfrm>
            <a:off x="777240" y="4754880"/>
            <a:ext cx="10634472" cy="365760"/>
          </a:xfrm>
          <a:prstGeom prst="rect">
            <a:avLst/>
          </a:prstGeom>
          <a:noFill/>
          <a:ln/>
        </p:spPr>
        <p:txBody>
          <a:bodyPr wrap="square" lIns="0" tIns="0" rIns="0" bIns="0" rtlCol="0" anchor="ctr"/>
          <a:lstStyle/>
          <a:p>
            <a:pPr marL="0" indent="0">
              <a:buNone/>
            </a:pPr>
            <a:r>
              <a:rPr lang="en-US" sz="1400" b="1" dirty="0">
                <a:solidFill>
                  <a:srgbClr val="1B3A6B"/>
                </a:solidFill>
                <a:latin typeface="Calibri" pitchFamily="34" charset="0"/>
                <a:ea typeface="Calibri" pitchFamily="34" charset="-122"/>
                <a:cs typeface="Calibri" pitchFamily="34" charset="-120"/>
              </a:rPr>
              <a:t>3. What should you check before entering login details on a website?</a:t>
            </a:r>
            <a:endParaRPr lang="en-US" sz="1400" dirty="0"/>
          </a:p>
        </p:txBody>
      </p:sp>
      <p:sp>
        <p:nvSpPr>
          <p:cNvPr id="19" name="Text 16"/>
          <p:cNvSpPr/>
          <p:nvPr/>
        </p:nvSpPr>
        <p:spPr>
          <a:xfrm>
            <a:off x="777240" y="5166360"/>
            <a:ext cx="5225796"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A) Nothing, just log in quickly</a:t>
            </a:r>
            <a:endParaRPr lang="en-US" sz="1200" dirty="0"/>
          </a:p>
        </p:txBody>
      </p:sp>
      <p:sp>
        <p:nvSpPr>
          <p:cNvPr id="20" name="Text 17"/>
          <p:cNvSpPr/>
          <p:nvPr/>
        </p:nvSpPr>
        <p:spPr>
          <a:xfrm>
            <a:off x="6094476" y="5166360"/>
            <a:ext cx="5225796"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B) The website URL and padlock icon</a:t>
            </a:r>
            <a:endParaRPr lang="en-US" sz="1200" dirty="0"/>
          </a:p>
        </p:txBody>
      </p:sp>
      <p:sp>
        <p:nvSpPr>
          <p:cNvPr id="21" name="Text 18"/>
          <p:cNvSpPr/>
          <p:nvPr/>
        </p:nvSpPr>
        <p:spPr>
          <a:xfrm>
            <a:off x="777240" y="5577840"/>
            <a:ext cx="5225796"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C) The page background color</a:t>
            </a:r>
            <a:endParaRPr lang="en-US" sz="1200" dirty="0"/>
          </a:p>
        </p:txBody>
      </p:sp>
      <p:sp>
        <p:nvSpPr>
          <p:cNvPr id="22" name="Text 19"/>
          <p:cNvSpPr/>
          <p:nvPr/>
        </p:nvSpPr>
        <p:spPr>
          <a:xfrm>
            <a:off x="6094476" y="5577840"/>
            <a:ext cx="5225796" cy="365760"/>
          </a:xfrm>
          <a:prstGeom prst="rect">
            <a:avLst/>
          </a:prstGeom>
          <a:noFill/>
          <a:ln/>
        </p:spPr>
        <p:txBody>
          <a:bodyPr wrap="square" lIns="0" tIns="0" rIns="0" bIns="0" rtlCol="0" anchor="ctr"/>
          <a:lstStyle/>
          <a:p>
            <a:pPr marL="0" indent="0">
              <a:buNone/>
            </a:pPr>
            <a:r>
              <a:rPr lang="en-US" sz="1200" dirty="0">
                <a:solidFill>
                  <a:srgbClr val="1F2D3D"/>
                </a:solidFill>
                <a:latin typeface="Calibri" pitchFamily="34" charset="0"/>
                <a:ea typeface="Calibri" pitchFamily="34" charset="-122"/>
                <a:cs typeface="Calibri" pitchFamily="34" charset="-120"/>
              </a:rPr>
              <a:t>D) The number of ads on the page</a:t>
            </a:r>
            <a:endParaRPr lang="en-US" sz="1200" dirty="0"/>
          </a:p>
        </p:txBody>
      </p:sp>
      <p:sp>
        <p:nvSpPr>
          <p:cNvPr id="23" name="Text 20"/>
          <p:cNvSpPr/>
          <p:nvPr/>
        </p:nvSpPr>
        <p:spPr>
          <a:xfrm>
            <a:off x="548640" y="6400800"/>
            <a:ext cx="11091672" cy="274320"/>
          </a:xfrm>
          <a:prstGeom prst="rect">
            <a:avLst/>
          </a:prstGeom>
          <a:noFill/>
          <a:ln/>
        </p:spPr>
        <p:txBody>
          <a:bodyPr wrap="square" lIns="0" tIns="0" rIns="0" bIns="0" rtlCol="0" anchor="ctr"/>
          <a:lstStyle/>
          <a:p>
            <a:pPr marL="0" indent="0" algn="l">
              <a:buNone/>
            </a:pPr>
            <a:r>
              <a:rPr lang="en-US" sz="1000" dirty="0">
                <a:solidFill>
                  <a:srgbClr val="5B6B7F"/>
                </a:solidFill>
                <a:latin typeface="Calibri" pitchFamily="34" charset="0"/>
                <a:ea typeface="Calibri" pitchFamily="34" charset="-122"/>
                <a:cs typeface="Calibri" pitchFamily="34" charset="-120"/>
              </a:rPr>
              <a:t>Phishing Awareness Program  |  Slide 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3A6B"/>
        </a:solidFill>
        <a:effectLst/>
      </p:bgPr>
    </p:bg>
    <p:spTree>
      <p:nvGrpSpPr>
        <p:cNvPr id="1" name=""/>
        <p:cNvGrpSpPr/>
        <p:nvPr/>
      </p:nvGrpSpPr>
      <p:grpSpPr>
        <a:xfrm>
          <a:off x="0" y="0"/>
          <a:ext cx="0" cy="0"/>
          <a:chOff x="0" y="0"/>
          <a:chExt cx="0" cy="0"/>
        </a:xfrm>
      </p:grpSpPr>
      <p:sp>
        <p:nvSpPr>
          <p:cNvPr id="2" name="Shape 0"/>
          <p:cNvSpPr/>
          <p:nvPr/>
        </p:nvSpPr>
        <p:spPr>
          <a:xfrm>
            <a:off x="5408676" y="1188720"/>
            <a:ext cx="1371600" cy="1371600"/>
          </a:xfrm>
          <a:prstGeom prst="ellipse">
            <a:avLst/>
          </a:prstGeom>
          <a:solidFill>
            <a:srgbClr val="2E75B6"/>
          </a:solidFill>
          <a:ln/>
        </p:spPr>
      </p:sp>
      <p:pic>
        <p:nvPicPr>
          <p:cNvPr id="3" name="Image 0" descr="preencoded.png"/>
          <p:cNvPicPr>
            <a:picLocks noChangeAspect="1"/>
          </p:cNvPicPr>
          <p:nvPr/>
        </p:nvPicPr>
        <p:blipFill>
          <a:blip r:embed="rId3"/>
          <a:stretch>
            <a:fillRect/>
          </a:stretch>
        </p:blipFill>
        <p:spPr>
          <a:xfrm>
            <a:off x="5717286" y="1497330"/>
            <a:ext cx="754380" cy="754380"/>
          </a:xfrm>
          <a:prstGeom prst="rect">
            <a:avLst/>
          </a:prstGeom>
        </p:spPr>
      </p:pic>
      <p:sp>
        <p:nvSpPr>
          <p:cNvPr id="4" name="Text 1"/>
          <p:cNvSpPr/>
          <p:nvPr/>
        </p:nvSpPr>
        <p:spPr>
          <a:xfrm>
            <a:off x="914400" y="2926080"/>
            <a:ext cx="10360152" cy="914400"/>
          </a:xfrm>
          <a:prstGeom prst="rect">
            <a:avLst/>
          </a:prstGeom>
          <a:noFill/>
          <a:ln/>
        </p:spPr>
        <p:txBody>
          <a:bodyPr wrap="square" lIns="0" tIns="0" rIns="0" bIns="0" rtlCol="0" anchor="ctr"/>
          <a:lstStyle/>
          <a:p>
            <a:pPr marL="0" indent="0" algn="ctr">
              <a:buNone/>
            </a:pPr>
            <a:r>
              <a:rPr lang="en-US" sz="4000" b="1" dirty="0">
                <a:solidFill>
                  <a:srgbClr val="FFFFFF"/>
                </a:solidFill>
                <a:latin typeface="Cambria" pitchFamily="34" charset="0"/>
                <a:ea typeface="Cambria" pitchFamily="34" charset="-122"/>
                <a:cs typeface="Cambria" pitchFamily="34" charset="-120"/>
              </a:rPr>
              <a:t>Thank You</a:t>
            </a:r>
            <a:endParaRPr lang="en-US" sz="4000" dirty="0"/>
          </a:p>
        </p:txBody>
      </p:sp>
      <p:sp>
        <p:nvSpPr>
          <p:cNvPr id="5" name="Text 2"/>
          <p:cNvSpPr/>
          <p:nvPr/>
        </p:nvSpPr>
        <p:spPr>
          <a:xfrm>
            <a:off x="914400" y="3840480"/>
            <a:ext cx="10360152" cy="548640"/>
          </a:xfrm>
          <a:prstGeom prst="rect">
            <a:avLst/>
          </a:prstGeom>
          <a:noFill/>
          <a:ln/>
        </p:spPr>
        <p:txBody>
          <a:bodyPr wrap="square" lIns="0" tIns="0" rIns="0" bIns="0" rtlCol="0" anchor="ctr"/>
          <a:lstStyle/>
          <a:p>
            <a:pPr marL="0" indent="0" algn="ctr">
              <a:buNone/>
            </a:pPr>
            <a:r>
              <a:rPr lang="en-US" sz="1800" dirty="0">
                <a:solidFill>
                  <a:srgbClr val="EAF2FB"/>
                </a:solidFill>
                <a:latin typeface="Calibri" pitchFamily="34" charset="0"/>
                <a:ea typeface="Calibri" pitchFamily="34" charset="-122"/>
                <a:cs typeface="Calibri" pitchFamily="34" charset="-120"/>
              </a:rPr>
              <a:t>Stay Alert. Think Before You Click. Stay Safe Online.</a:t>
            </a:r>
            <a:endParaRPr lang="en-US" sz="1800" dirty="0"/>
          </a:p>
        </p:txBody>
      </p:sp>
      <p:sp>
        <p:nvSpPr>
          <p:cNvPr id="6" name="Text 3"/>
          <p:cNvSpPr/>
          <p:nvPr/>
        </p:nvSpPr>
        <p:spPr>
          <a:xfrm>
            <a:off x="914400" y="5852160"/>
            <a:ext cx="10360152" cy="365760"/>
          </a:xfrm>
          <a:prstGeom prst="rect">
            <a:avLst/>
          </a:prstGeom>
          <a:noFill/>
          <a:ln/>
        </p:spPr>
        <p:txBody>
          <a:bodyPr wrap="square" lIns="0" tIns="0" rIns="0" bIns="0" rtlCol="0" anchor="ctr"/>
          <a:lstStyle/>
          <a:p>
            <a:pPr marL="0" indent="0" algn="ctr">
              <a:buNone/>
            </a:pPr>
            <a:r>
              <a:rPr lang="en-US" sz="1300" dirty="0">
                <a:solidFill>
                  <a:srgbClr val="EAF2FB"/>
                </a:solidFill>
                <a:latin typeface="Calibri" pitchFamily="34" charset="0"/>
                <a:ea typeface="Calibri" pitchFamily="34" charset="-122"/>
                <a:cs typeface="Calibri" pitchFamily="34" charset="-120"/>
              </a:rPr>
              <a:t>CodSoft Cyber Security Internship  |  Task 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1311</Words>
  <Application>Microsoft Office PowerPoint</Application>
  <PresentationFormat>Widescreen</PresentationFormat>
  <Paragraphs>130</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2</cp:revision>
  <dcterms:created xsi:type="dcterms:W3CDTF">2026-07-22T13:32:47Z</dcterms:created>
  <dcterms:modified xsi:type="dcterms:W3CDTF">2026-07-22T15:57:14Z</dcterms:modified>
</cp:coreProperties>
</file>